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embeddedFontLst>
    <p:embeddedFont>
      <p:font typeface="Calibri" panose="020F050202020403020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3" name="Rectangle 2"/>
          <p:cNvSpPr/>
          <p:nvPr/>
        </p:nvSpPr>
        <p:spPr>
          <a:xfrm>
            <a:off x="762000" y="5353050"/>
            <a:ext cx="10668000" cy="8953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762000" y="5353050"/>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762000" y="609600"/>
            <a:ext cx="3212418" cy="293190"/>
          </a:xfrm>
          <a:prstGeom prst="roundRect">
            <a:avLst>
              <a:gd name="adj" fmla="val 50000"/>
            </a:avLst>
          </a:prstGeom>
          <a:solidFill>
            <a:srgbClr val="16344E"/>
          </a:solidFill>
          <a:ln w="9525">
            <a:solidFill>
              <a:srgbClr val="214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762000" y="1143000"/>
            <a:ext cx="9901237" cy="1508670"/>
          </a:xfrm>
          <a:prstGeom prst="rect">
            <a:avLst/>
          </a:prstGeom>
          <a:noFill/>
        </p:spPr>
        <p:txBody>
          <a:bodyPr wrap="square" lIns="0" tIns="0" rIns="0" bIns="0" anchor="t">
            <a:spAutoFit/>
          </a:bodyPr>
          <a:lstStyle/>
          <a:p>
            <a:pPr algn="l">
              <a:lnSpc>
                <a:spcPts val="3960"/>
              </a:lnSpc>
            </a:pPr>
            <a:r>
              <a:rPr sz="3300" b="1" i="0" u="none" dirty="0" err="1">
                <a:solidFill>
                  <a:srgbClr val="F8FAFC"/>
                </a:solidFill>
                <a:latin typeface="Times New Roman" panose="02020603050405020304" pitchFamily="18" charset="0"/>
                <a:cs typeface="Times New Roman" panose="02020603050405020304" pitchFamily="18" charset="0"/>
              </a:rPr>
              <a:t>Dự</a:t>
            </a:r>
            <a:r>
              <a:rPr sz="3300" b="1" i="0" u="none" dirty="0">
                <a:solidFill>
                  <a:srgbClr val="F8FAFC"/>
                </a:solidFill>
                <a:latin typeface="Times New Roman" panose="02020603050405020304" pitchFamily="18" charset="0"/>
                <a:cs typeface="Times New Roman" panose="02020603050405020304" pitchFamily="18" charset="0"/>
              </a:rPr>
              <a:t> Báo </a:t>
            </a:r>
            <a:r>
              <a:rPr sz="3300" b="1" i="0" u="none" dirty="0" err="1">
                <a:solidFill>
                  <a:srgbClr val="F8FAFC"/>
                </a:solidFill>
                <a:latin typeface="Times New Roman" panose="02020603050405020304" pitchFamily="18" charset="0"/>
                <a:cs typeface="Times New Roman" panose="02020603050405020304" pitchFamily="18" charset="0"/>
              </a:rPr>
              <a:t>Sản</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Lượng</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Điện</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Mặt</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Trời</a:t>
            </a:r>
            <a:r>
              <a:rPr sz="3300" b="1" i="0" u="none" dirty="0">
                <a:solidFill>
                  <a:srgbClr val="F8FAFC"/>
                </a:solidFill>
                <a:latin typeface="Times New Roman" panose="02020603050405020304" pitchFamily="18" charset="0"/>
                <a:cs typeface="Times New Roman" panose="02020603050405020304" pitchFamily="18" charset="0"/>
              </a:rPr>
              <a:t> &amp; </a:t>
            </a:r>
            <a:r>
              <a:rPr sz="3300" b="1" i="0" u="none" dirty="0" err="1">
                <a:solidFill>
                  <a:srgbClr val="F8FAFC"/>
                </a:solidFill>
                <a:latin typeface="Times New Roman" panose="02020603050405020304" pitchFamily="18" charset="0"/>
                <a:cs typeface="Times New Roman" panose="02020603050405020304" pitchFamily="18" charset="0"/>
              </a:rPr>
              <a:t>Sàng</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Lọc</a:t>
            </a:r>
            <a:endParaRPr lang="vi-VN" sz="3300" b="1" i="0" u="none" dirty="0">
              <a:solidFill>
                <a:srgbClr val="F8FAFC"/>
              </a:solidFill>
              <a:latin typeface="Times New Roman" panose="02020603050405020304" pitchFamily="18" charset="0"/>
              <a:cs typeface="Times New Roman" panose="02020603050405020304" pitchFamily="18" charset="0"/>
            </a:endParaRPr>
          </a:p>
          <a:p>
            <a:pPr algn="l">
              <a:lnSpc>
                <a:spcPts val="3960"/>
              </a:lnSpc>
            </a:pPr>
            <a:r>
              <a:rPr sz="3300" b="1" i="0" u="none" dirty="0" err="1">
                <a:solidFill>
                  <a:srgbClr val="F8FAFC"/>
                </a:solidFill>
                <a:latin typeface="Times New Roman" panose="02020603050405020304" pitchFamily="18" charset="0"/>
                <a:cs typeface="Times New Roman" panose="02020603050405020304" pitchFamily="18" charset="0"/>
              </a:rPr>
              <a:t>Dấu</a:t>
            </a:r>
            <a:r>
              <a:rPr sz="3300" b="1" i="0" u="none" dirty="0">
                <a:solidFill>
                  <a:srgbClr val="F8FAFC"/>
                </a:solidFill>
                <a:latin typeface="Times New Roman" panose="02020603050405020304" pitchFamily="18" charset="0"/>
                <a:cs typeface="Times New Roman" panose="02020603050405020304" pitchFamily="18" charset="0"/>
              </a:rPr>
              <a:t> Hiệu </a:t>
            </a:r>
            <a:r>
              <a:rPr sz="3300" b="1" i="0" u="none" dirty="0" err="1">
                <a:solidFill>
                  <a:srgbClr val="F8FAFC"/>
                </a:solidFill>
                <a:latin typeface="Times New Roman" panose="02020603050405020304" pitchFamily="18" charset="0"/>
                <a:cs typeface="Times New Roman" panose="02020603050405020304" pitchFamily="18" charset="0"/>
              </a:rPr>
              <a:t>Hoạt</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Động</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Dưới</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Kỳ</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Vọng</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Trên</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Bộ</a:t>
            </a:r>
            <a:r>
              <a:rPr sz="3300" b="1" i="0" u="none" dirty="0">
                <a:solidFill>
                  <a:srgbClr val="F8FAFC"/>
                </a:solidFill>
                <a:latin typeface="Times New Roman" panose="02020603050405020304" pitchFamily="18" charset="0"/>
                <a:cs typeface="Times New Roman" panose="02020603050405020304" pitchFamily="18" charset="0"/>
              </a:rPr>
              <a:t> </a:t>
            </a:r>
            <a:r>
              <a:rPr sz="3300" b="1" i="0" u="none" dirty="0" err="1">
                <a:solidFill>
                  <a:srgbClr val="F8FAFC"/>
                </a:solidFill>
                <a:latin typeface="Times New Roman" panose="02020603050405020304" pitchFamily="18" charset="0"/>
                <a:cs typeface="Times New Roman" panose="02020603050405020304" pitchFamily="18" charset="0"/>
              </a:rPr>
              <a:t>Dữ</a:t>
            </a:r>
            <a:r>
              <a:rPr sz="3300" b="1" i="0" u="none" dirty="0">
                <a:solidFill>
                  <a:srgbClr val="F8FAFC"/>
                </a:solidFill>
                <a:latin typeface="Times New Roman" panose="02020603050405020304" pitchFamily="18" charset="0"/>
                <a:cs typeface="Times New Roman" panose="02020603050405020304" pitchFamily="18" charset="0"/>
              </a:rPr>
              <a:t> Liệu </a:t>
            </a:r>
            <a:r>
              <a:rPr sz="3300" b="1" i="0" u="none" dirty="0" err="1">
                <a:solidFill>
                  <a:srgbClr val="F8FAFC"/>
                </a:solidFill>
                <a:latin typeface="Times New Roman" panose="02020603050405020304" pitchFamily="18" charset="0"/>
                <a:cs typeface="Times New Roman" panose="02020603050405020304" pitchFamily="18" charset="0"/>
              </a:rPr>
              <a:t>UniSolar</a:t>
            </a:r>
            <a:endParaRPr sz="3300" b="1" i="0" u="none" dirty="0">
              <a:solidFill>
                <a:srgbClr val="F8FAFC"/>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762000" y="2842170"/>
            <a:ext cx="8096250" cy="571500"/>
          </a:xfrm>
          <a:prstGeom prst="rect">
            <a:avLst/>
          </a:prstGeom>
          <a:noFill/>
        </p:spPr>
        <p:txBody>
          <a:bodyPr wrap="square" lIns="0" tIns="0" rIns="0" bIns="0" anchor="t">
            <a:spAutoFit/>
          </a:bodyPr>
          <a:lstStyle/>
          <a:p>
            <a:pPr algn="l">
              <a:lnSpc>
                <a:spcPts val="2250"/>
              </a:lnSpc>
            </a:pPr>
            <a:r>
              <a:rPr sz="1500" b="0" i="0" u="none" dirty="0" err="1">
                <a:solidFill>
                  <a:schemeClr val="bg1">
                    <a:lumMod val="75000"/>
                  </a:schemeClr>
                </a:solidFill>
                <a:latin typeface="Times New Roman" panose="02020603050405020304" pitchFamily="18" charset="0"/>
                <a:cs typeface="Times New Roman" panose="02020603050405020304" pitchFamily="18" charset="0"/>
              </a:rPr>
              <a:t>Bài</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toán</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Hồi</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quy</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Chuỗi</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thời</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gian</a:t>
            </a:r>
            <a:r>
              <a:rPr sz="1500" b="0" i="0" u="none" dirty="0">
                <a:solidFill>
                  <a:schemeClr val="bg1">
                    <a:lumMod val="75000"/>
                  </a:schemeClr>
                </a:solidFill>
                <a:latin typeface="Times New Roman" panose="02020603050405020304" pitchFamily="18" charset="0"/>
                <a:cs typeface="Times New Roman" panose="02020603050405020304" pitchFamily="18" charset="0"/>
              </a:rPr>
              <a:t> 15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phút</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Cuốn</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chiếu</a:t>
            </a:r>
            <a:r>
              <a:rPr sz="1500" b="0" i="0" u="none" dirty="0">
                <a:solidFill>
                  <a:schemeClr val="bg1">
                    <a:lumMod val="75000"/>
                  </a:schemeClr>
                </a:solidFill>
                <a:latin typeface="Times New Roman" panose="02020603050405020304" pitchFamily="18" charset="0"/>
                <a:cs typeface="Times New Roman" panose="02020603050405020304" pitchFamily="18" charset="0"/>
              </a:rPr>
              <a:t> (One-Step-Ahead) &amp; Module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Phát</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hiện</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Bất</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thường</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Vận</a:t>
            </a:r>
            <a:r>
              <a:rPr sz="1500" b="0" i="0" u="none" dirty="0">
                <a:solidFill>
                  <a:schemeClr val="bg1">
                    <a:lumMod val="75000"/>
                  </a:schemeClr>
                </a:solidFill>
                <a:latin typeface="Times New Roman" panose="02020603050405020304" pitchFamily="18" charset="0"/>
                <a:cs typeface="Times New Roman" panose="02020603050405020304" pitchFamily="18" charset="0"/>
              </a:rPr>
              <a:t> </a:t>
            </a:r>
            <a:r>
              <a:rPr sz="1500" b="0" i="0" u="none" dirty="0" err="1">
                <a:solidFill>
                  <a:schemeClr val="bg1">
                    <a:lumMod val="75000"/>
                  </a:schemeClr>
                </a:solidFill>
                <a:latin typeface="Times New Roman" panose="02020603050405020304" pitchFamily="18" charset="0"/>
                <a:cs typeface="Times New Roman" panose="02020603050405020304" pitchFamily="18" charset="0"/>
              </a:rPr>
              <a:t>hành</a:t>
            </a:r>
            <a:endParaRPr sz="1500" b="0" i="0" u="none"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914401" y="676617"/>
            <a:ext cx="2979174" cy="161583"/>
          </a:xfrm>
          <a:prstGeom prst="rect">
            <a:avLst/>
          </a:prstGeom>
          <a:noFill/>
        </p:spPr>
        <p:txBody>
          <a:bodyPr wrap="square" lIns="0" tIns="0" rIns="0" bIns="0" anchor="t">
            <a:spAutoFit/>
          </a:bodyPr>
          <a:lstStyle/>
          <a:p>
            <a:pPr algn="l"/>
            <a:r>
              <a:rPr sz="1050" b="1" i="0" u="none" dirty="0">
                <a:solidFill>
                  <a:srgbClr val="38BDF8"/>
                </a:solidFill>
                <a:latin typeface="Times New Roman" panose="02020603050405020304" pitchFamily="18" charset="0"/>
                <a:cs typeface="Times New Roman" panose="02020603050405020304" pitchFamily="18" charset="0"/>
              </a:rPr>
              <a:t>HỌC PHẦN: KHAI PHÁ DỮ LIỆU — NHÓM 10</a:t>
            </a:r>
            <a:endParaRPr sz="1050" b="1" i="0" u="none" dirty="0">
              <a:solidFill>
                <a:srgbClr val="38BDF8"/>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762000" y="5667375"/>
            <a:ext cx="924933" cy="150041"/>
          </a:xfrm>
          <a:prstGeom prst="rect">
            <a:avLst/>
          </a:prstGeom>
          <a:noFill/>
        </p:spPr>
        <p:txBody>
          <a:bodyPr wrap="none" lIns="0" tIns="0" rIns="0" bIns="0" anchor="t">
            <a:spAutoFit/>
          </a:bodyPr>
          <a:lstStyle/>
          <a:p>
            <a:pPr algn="l"/>
            <a:r>
              <a:rPr sz="975" b="0" i="0" u="none">
                <a:solidFill>
                  <a:srgbClr val="64748B"/>
                </a:solidFill>
                <a:latin typeface="Times New Roman" panose="02020603050405020304" pitchFamily="18" charset="0"/>
                <a:cs typeface="Times New Roman" panose="02020603050405020304" pitchFamily="18" charset="0"/>
              </a:rPr>
              <a:t>THỰC HIỆN BỞI</a:t>
            </a:r>
            <a:endParaRPr sz="975" b="0" i="0" u="none">
              <a:solidFill>
                <a:srgbClr val="64748B"/>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62000" y="5876925"/>
            <a:ext cx="3268074" cy="184666"/>
          </a:xfrm>
          <a:prstGeom prst="rect">
            <a:avLst/>
          </a:prstGeom>
          <a:noFill/>
        </p:spPr>
        <p:txBody>
          <a:bodyPr wrap="none" lIns="0" tIns="0" rIns="0" bIns="0" anchor="t">
            <a:spAutoFit/>
          </a:bodyPr>
          <a:lstStyle/>
          <a:p>
            <a:pPr algn="l"/>
            <a:r>
              <a:rPr sz="1200" b="1" i="0" u="none">
                <a:solidFill>
                  <a:srgbClr val="E2E8F0"/>
                </a:solidFill>
                <a:latin typeface="Times New Roman" panose="02020603050405020304" pitchFamily="18" charset="0"/>
                <a:cs typeface="Times New Roman" panose="02020603050405020304" pitchFamily="18" charset="0"/>
              </a:rPr>
              <a:t>Vi Thị Sen • Phùng Mạnh Hùng • Lục Duy Quang</a:t>
            </a:r>
            <a:endParaRPr sz="1200" b="1" i="0" u="none">
              <a:solidFill>
                <a:srgbClr val="E2E8F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762000" y="6115665"/>
            <a:ext cx="3212418" cy="161583"/>
          </a:xfrm>
          <a:prstGeom prst="rect">
            <a:avLst/>
          </a:prstGeom>
          <a:noFill/>
        </p:spPr>
        <p:txBody>
          <a:bodyPr wrap="none" lIns="0" tIns="0" rIns="0" bIns="0" anchor="t">
            <a:spAutoFit/>
          </a:bodyPr>
          <a:lstStyle/>
          <a:p>
            <a:pPr algn="l"/>
            <a:r>
              <a:rPr sz="1050" b="0" i="0" u="none" dirty="0" err="1">
                <a:solidFill>
                  <a:srgbClr val="94A3B8"/>
                </a:solidFill>
                <a:latin typeface="Times New Roman" panose="02020603050405020304" pitchFamily="18" charset="0"/>
                <a:cs typeface="Times New Roman" panose="02020603050405020304" pitchFamily="18" charset="0"/>
              </a:rPr>
              <a:t>Lớp</a:t>
            </a:r>
            <a:r>
              <a:rPr sz="1050" b="0" i="0" u="none" dirty="0">
                <a:solidFill>
                  <a:srgbClr val="94A3B8"/>
                </a:solidFill>
                <a:latin typeface="Times New Roman" panose="02020603050405020304" pitchFamily="18" charset="0"/>
                <a:cs typeface="Times New Roman" panose="02020603050405020304" pitchFamily="18" charset="0"/>
              </a:rPr>
              <a:t> S26-65CNTT — </a:t>
            </a:r>
            <a:r>
              <a:rPr sz="1050" b="0" i="0" u="none" dirty="0" err="1">
                <a:solidFill>
                  <a:srgbClr val="94A3B8"/>
                </a:solidFill>
                <a:latin typeface="Times New Roman" panose="02020603050405020304" pitchFamily="18" charset="0"/>
                <a:cs typeface="Times New Roman" panose="02020603050405020304" pitchFamily="18" charset="0"/>
              </a:rPr>
              <a:t>Phân</a:t>
            </a:r>
            <a:r>
              <a:rPr sz="1050" b="0" i="0" u="none" dirty="0">
                <a:solidFill>
                  <a:srgbClr val="94A3B8"/>
                </a:solidFill>
                <a:latin typeface="Times New Roman" panose="02020603050405020304" pitchFamily="18" charset="0"/>
                <a:cs typeface="Times New Roman" panose="02020603050405020304" pitchFamily="18" charset="0"/>
              </a:rPr>
              <a:t> </a:t>
            </a:r>
            <a:r>
              <a:rPr sz="1050" b="0" i="0" u="none" dirty="0" err="1">
                <a:solidFill>
                  <a:srgbClr val="94A3B8"/>
                </a:solidFill>
                <a:latin typeface="Times New Roman" panose="02020603050405020304" pitchFamily="18" charset="0"/>
                <a:cs typeface="Times New Roman" panose="02020603050405020304" pitchFamily="18" charset="0"/>
              </a:rPr>
              <a:t>hiệu</a:t>
            </a:r>
            <a:r>
              <a:rPr sz="1050" b="0" i="0" u="none" dirty="0">
                <a:solidFill>
                  <a:srgbClr val="94A3B8"/>
                </a:solidFill>
                <a:latin typeface="Times New Roman" panose="02020603050405020304" pitchFamily="18" charset="0"/>
                <a:cs typeface="Times New Roman" panose="02020603050405020304" pitchFamily="18" charset="0"/>
              </a:rPr>
              <a:t> </a:t>
            </a:r>
            <a:r>
              <a:rPr sz="1050" b="0" i="0" u="none" dirty="0" err="1">
                <a:solidFill>
                  <a:srgbClr val="94A3B8"/>
                </a:solidFill>
                <a:latin typeface="Times New Roman" panose="02020603050405020304" pitchFamily="18" charset="0"/>
                <a:cs typeface="Times New Roman" panose="02020603050405020304" pitchFamily="18" charset="0"/>
              </a:rPr>
              <a:t>Đại</a:t>
            </a:r>
            <a:r>
              <a:rPr sz="1050" b="0" i="0" u="none" dirty="0">
                <a:solidFill>
                  <a:srgbClr val="94A3B8"/>
                </a:solidFill>
                <a:latin typeface="Times New Roman" panose="02020603050405020304" pitchFamily="18" charset="0"/>
                <a:cs typeface="Times New Roman" panose="02020603050405020304" pitchFamily="18" charset="0"/>
              </a:rPr>
              <a:t> </a:t>
            </a:r>
            <a:r>
              <a:rPr sz="1050" b="0" i="0" u="none" dirty="0" err="1">
                <a:solidFill>
                  <a:srgbClr val="94A3B8"/>
                </a:solidFill>
                <a:latin typeface="Times New Roman" panose="02020603050405020304" pitchFamily="18" charset="0"/>
                <a:cs typeface="Times New Roman" panose="02020603050405020304" pitchFamily="18" charset="0"/>
              </a:rPr>
              <a:t>học</a:t>
            </a:r>
            <a:r>
              <a:rPr sz="1050" b="0" i="0" u="none" dirty="0">
                <a:solidFill>
                  <a:srgbClr val="94A3B8"/>
                </a:solidFill>
                <a:latin typeface="Times New Roman" panose="02020603050405020304" pitchFamily="18" charset="0"/>
                <a:cs typeface="Times New Roman" panose="02020603050405020304" pitchFamily="18" charset="0"/>
              </a:rPr>
              <a:t> </a:t>
            </a:r>
            <a:r>
              <a:rPr sz="1050" b="0" i="0" u="none" dirty="0" err="1">
                <a:solidFill>
                  <a:srgbClr val="94A3B8"/>
                </a:solidFill>
                <a:latin typeface="Times New Roman" panose="02020603050405020304" pitchFamily="18" charset="0"/>
                <a:cs typeface="Times New Roman" panose="02020603050405020304" pitchFamily="18" charset="0"/>
              </a:rPr>
              <a:t>Thủy</a:t>
            </a:r>
            <a:r>
              <a:rPr sz="1050" b="0" i="0" u="none" dirty="0">
                <a:solidFill>
                  <a:srgbClr val="94A3B8"/>
                </a:solidFill>
                <a:latin typeface="Times New Roman" panose="02020603050405020304" pitchFamily="18" charset="0"/>
                <a:cs typeface="Times New Roman" panose="02020603050405020304" pitchFamily="18" charset="0"/>
              </a:rPr>
              <a:t> </a:t>
            </a:r>
            <a:r>
              <a:rPr sz="1050" b="0" i="0" u="none" dirty="0" err="1">
                <a:solidFill>
                  <a:srgbClr val="94A3B8"/>
                </a:solidFill>
                <a:latin typeface="Times New Roman" panose="02020603050405020304" pitchFamily="18" charset="0"/>
                <a:cs typeface="Times New Roman" panose="02020603050405020304" pitchFamily="18" charset="0"/>
              </a:rPr>
              <a:t>lợi</a:t>
            </a:r>
            <a:r>
              <a:rPr sz="1050" b="0" i="0" u="none" dirty="0">
                <a:solidFill>
                  <a:srgbClr val="94A3B8"/>
                </a:solidFill>
                <a:latin typeface="Times New Roman" panose="02020603050405020304" pitchFamily="18" charset="0"/>
                <a:cs typeface="Times New Roman" panose="02020603050405020304" pitchFamily="18" charset="0"/>
              </a:rPr>
              <a:t> TP.HCM</a:t>
            </a:r>
            <a:endParaRPr sz="1050" b="0" i="0" u="none" dirty="0">
              <a:solidFill>
                <a:srgbClr val="94A3B8"/>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9908750" y="5667375"/>
            <a:ext cx="1521249" cy="150041"/>
          </a:xfrm>
          <a:prstGeom prst="rect">
            <a:avLst/>
          </a:prstGeom>
          <a:noFill/>
        </p:spPr>
        <p:txBody>
          <a:bodyPr wrap="none" lIns="0" tIns="0" rIns="0" bIns="0" anchor="t">
            <a:spAutoFit/>
          </a:bodyPr>
          <a:lstStyle/>
          <a:p>
            <a:pPr algn="r"/>
            <a:r>
              <a:rPr sz="975" b="0" i="0" u="none">
                <a:solidFill>
                  <a:srgbClr val="64748B"/>
                </a:solidFill>
                <a:latin typeface="Times New Roman" panose="02020603050405020304" pitchFamily="18" charset="0"/>
                <a:cs typeface="Times New Roman" panose="02020603050405020304" pitchFamily="18" charset="0"/>
              </a:rPr>
              <a:t>GIẢNG VIÊN HƯỚNG DẪN</a:t>
            </a:r>
            <a:endParaRPr sz="975" b="0" i="0" u="none">
              <a:solidFill>
                <a:srgbClr val="64748B"/>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0215629" y="5876925"/>
            <a:ext cx="1214370" cy="184666"/>
          </a:xfrm>
          <a:prstGeom prst="rect">
            <a:avLst/>
          </a:prstGeom>
          <a:noFill/>
        </p:spPr>
        <p:txBody>
          <a:bodyPr wrap="none" lIns="0" tIns="0" rIns="0" bIns="0" anchor="t">
            <a:spAutoFit/>
          </a:bodyPr>
          <a:lstStyle/>
          <a:p>
            <a:pPr algn="r"/>
            <a:r>
              <a:rPr sz="1200" b="1" i="0" u="none">
                <a:solidFill>
                  <a:srgbClr val="38BDF8"/>
                </a:solidFill>
                <a:latin typeface="Times New Roman" panose="02020603050405020304" pitchFamily="18" charset="0"/>
                <a:cs typeface="Times New Roman" panose="02020603050405020304" pitchFamily="18" charset="0"/>
              </a:rPr>
              <a:t>ThS. Vũ Thị Hạnh</a:t>
            </a:r>
            <a:endParaRPr sz="1200" b="1" i="0" u="none">
              <a:solidFill>
                <a:srgbClr val="38BDF8"/>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0865742" y="6101241"/>
            <a:ext cx="564257" cy="161583"/>
          </a:xfrm>
          <a:prstGeom prst="rect">
            <a:avLst/>
          </a:prstGeom>
          <a:noFill/>
        </p:spPr>
        <p:txBody>
          <a:bodyPr wrap="none" lIns="0" tIns="0" rIns="0" bIns="0" anchor="t">
            <a:spAutoFit/>
          </a:bodyPr>
          <a:lstStyle/>
          <a:p>
            <a:pPr algn="r"/>
            <a:r>
              <a:rPr sz="1050" b="0" i="0" u="none" dirty="0" err="1">
                <a:solidFill>
                  <a:srgbClr val="94A3B8"/>
                </a:solidFill>
                <a:latin typeface="Times New Roman" panose="02020603050405020304" pitchFamily="18" charset="0"/>
                <a:cs typeface="Times New Roman" panose="02020603050405020304" pitchFamily="18" charset="0"/>
              </a:rPr>
              <a:t>Năm</a:t>
            </a:r>
            <a:r>
              <a:rPr sz="1050" b="0" i="0" u="none" dirty="0">
                <a:solidFill>
                  <a:srgbClr val="94A3B8"/>
                </a:solidFill>
                <a:latin typeface="Times New Roman" panose="02020603050405020304" pitchFamily="18" charset="0"/>
                <a:cs typeface="Times New Roman" panose="02020603050405020304" pitchFamily="18" charset="0"/>
              </a:rPr>
              <a:t> 2026</a:t>
            </a:r>
            <a:endParaRPr sz="1050" b="0" i="0" u="none" dirty="0">
              <a:solidFill>
                <a:srgbClr val="94A3B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753100"/>
            <a:ext cx="10972800" cy="647700"/>
          </a:xfrm>
          <a:prstGeom prst="roundRect">
            <a:avLst>
              <a:gd name="adj" fmla="val 1176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2241202"/>
            <a:ext cx="3505200" cy="2257425"/>
          </a:xfrm>
          <a:prstGeom prst="roundRect">
            <a:avLst>
              <a:gd name="adj" fmla="val 50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4343400" y="2241202"/>
            <a:ext cx="3505200" cy="2257425"/>
          </a:xfrm>
          <a:prstGeom prst="roundRect">
            <a:avLst>
              <a:gd name="adj" fmla="val 50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8077200" y="2241202"/>
            <a:ext cx="3505200" cy="2257425"/>
          </a:xfrm>
          <a:prstGeom prst="roundRect">
            <a:avLst>
              <a:gd name="adj" fmla="val 50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609600" y="2241202"/>
            <a:ext cx="3505200"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4343400" y="2241202"/>
            <a:ext cx="35052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ectangle 7"/>
          <p:cNvSpPr/>
          <p:nvPr/>
        </p:nvSpPr>
        <p:spPr>
          <a:xfrm>
            <a:off x="8077200" y="2241202"/>
            <a:ext cx="3505200" cy="381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2800350" y="3393727"/>
            <a:ext cx="876300" cy="200025"/>
          </a:xfrm>
          <a:prstGeom prst="roundRect">
            <a:avLst>
              <a:gd name="adj" fmla="val 19047"/>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4610100" y="3608040"/>
            <a:ext cx="1028700" cy="200025"/>
          </a:xfrm>
          <a:prstGeom prst="roundRect">
            <a:avLst>
              <a:gd name="adj" fmla="val 19047"/>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11" name="Picture 10" descr="image.png"/>
          <p:cNvPicPr>
            <a:picLocks noChangeAspect="1"/>
          </p:cNvPicPr>
          <p:nvPr/>
        </p:nvPicPr>
        <p:blipFill>
          <a:blip r:embed="rId1"/>
          <a:stretch>
            <a:fillRect/>
          </a:stretch>
        </p:blipFill>
        <p:spPr>
          <a:xfrm>
            <a:off x="838200" y="5981700"/>
            <a:ext cx="190500" cy="190500"/>
          </a:xfrm>
          <a:prstGeom prst="rect">
            <a:avLst/>
          </a:prstGeom>
        </p:spPr>
      </p:pic>
      <p:pic>
        <p:nvPicPr>
          <p:cNvPr id="12" name="Picture 11" descr="image.png"/>
          <p:cNvPicPr>
            <a:picLocks noChangeAspect="1"/>
          </p:cNvPicPr>
          <p:nvPr/>
        </p:nvPicPr>
        <p:blipFill>
          <a:blip r:embed="rId2"/>
          <a:stretch>
            <a:fillRect/>
          </a:stretch>
        </p:blipFill>
        <p:spPr>
          <a:xfrm>
            <a:off x="876300" y="2546002"/>
            <a:ext cx="381000" cy="381000"/>
          </a:xfrm>
          <a:prstGeom prst="rect">
            <a:avLst/>
          </a:prstGeom>
        </p:spPr>
      </p:pic>
      <p:pic>
        <p:nvPicPr>
          <p:cNvPr id="13" name="Picture 12" descr="image.png"/>
          <p:cNvPicPr>
            <a:picLocks noChangeAspect="1"/>
          </p:cNvPicPr>
          <p:nvPr/>
        </p:nvPicPr>
        <p:blipFill>
          <a:blip r:embed="rId3"/>
          <a:stretch>
            <a:fillRect/>
          </a:stretch>
        </p:blipFill>
        <p:spPr>
          <a:xfrm>
            <a:off x="4610100" y="2546002"/>
            <a:ext cx="381000" cy="381000"/>
          </a:xfrm>
          <a:prstGeom prst="rect">
            <a:avLst/>
          </a:prstGeom>
        </p:spPr>
      </p:pic>
      <p:pic>
        <p:nvPicPr>
          <p:cNvPr id="14" name="Picture 13" descr="image.png"/>
          <p:cNvPicPr>
            <a:picLocks noChangeAspect="1"/>
          </p:cNvPicPr>
          <p:nvPr/>
        </p:nvPicPr>
        <p:blipFill>
          <a:blip r:embed="rId4"/>
          <a:stretch>
            <a:fillRect/>
          </a:stretch>
        </p:blipFill>
        <p:spPr>
          <a:xfrm>
            <a:off x="8343900" y="2546002"/>
            <a:ext cx="381000" cy="381000"/>
          </a:xfrm>
          <a:prstGeom prst="rect">
            <a:avLst/>
          </a:prstGeom>
        </p:spPr>
      </p:pic>
      <p:pic>
        <p:nvPicPr>
          <p:cNvPr id="15" name="Picture 14" descr="image.png"/>
          <p:cNvPicPr>
            <a:picLocks noChangeAspect="1"/>
          </p:cNvPicPr>
          <p:nvPr/>
        </p:nvPicPr>
        <p:blipFill>
          <a:blip r:embed="rId5"/>
          <a:stretch>
            <a:fillRect/>
          </a:stretch>
        </p:blipFill>
        <p:spPr>
          <a:xfrm>
            <a:off x="971550" y="2641252"/>
            <a:ext cx="190500" cy="190500"/>
          </a:xfrm>
          <a:prstGeom prst="rect">
            <a:avLst/>
          </a:prstGeom>
        </p:spPr>
      </p:pic>
      <p:pic>
        <p:nvPicPr>
          <p:cNvPr id="16" name="Picture 15" descr="image.png"/>
          <p:cNvPicPr>
            <a:picLocks noChangeAspect="1"/>
          </p:cNvPicPr>
          <p:nvPr/>
        </p:nvPicPr>
        <p:blipFill>
          <a:blip r:embed="rId6"/>
          <a:stretch>
            <a:fillRect/>
          </a:stretch>
        </p:blipFill>
        <p:spPr>
          <a:xfrm>
            <a:off x="4705350" y="2641252"/>
            <a:ext cx="190500" cy="190500"/>
          </a:xfrm>
          <a:prstGeom prst="rect">
            <a:avLst/>
          </a:prstGeom>
        </p:spPr>
      </p:pic>
      <p:pic>
        <p:nvPicPr>
          <p:cNvPr id="17" name="Picture 16" descr="image.png"/>
          <p:cNvPicPr>
            <a:picLocks noChangeAspect="1"/>
          </p:cNvPicPr>
          <p:nvPr/>
        </p:nvPicPr>
        <p:blipFill>
          <a:blip r:embed="rId7"/>
          <a:stretch>
            <a:fillRect/>
          </a:stretch>
        </p:blipFill>
        <p:spPr>
          <a:xfrm>
            <a:off x="8448675" y="2641252"/>
            <a:ext cx="171450" cy="190500"/>
          </a:xfrm>
          <a:prstGeom prst="rect">
            <a:avLst/>
          </a:prstGeom>
        </p:spPr>
      </p:pic>
      <p:sp>
        <p:nvSpPr>
          <p:cNvPr id="18" name="TextBox 17"/>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1 &amp; 2: TỔNG QUAN &amp; MỤC TIÊU</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Khung Tiếp Cận &amp; Phát Biểu Bài Toán Chuỗi Thời Gian</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1181100" y="5905500"/>
            <a:ext cx="10267950" cy="342900"/>
          </a:xfrm>
          <a:prstGeom prst="rect">
            <a:avLst/>
          </a:prstGeom>
          <a:noFill/>
        </p:spPr>
        <p:txBody>
          <a:bodyPr wrap="square" lIns="0" tIns="0" rIns="0" bIns="0" anchor="t">
            <a:spAutoFit/>
          </a:bodyPr>
          <a:lstStyle/>
          <a:p>
            <a:pPr algn="l"/>
            <a:r>
              <a:rPr sz="1050" b="1" i="0" u="none">
                <a:solidFill>
                  <a:srgbClr val="1E3A8A"/>
                </a:solidFill>
                <a:latin typeface="Times New Roman" panose="02020603050405020304" pitchFamily="18" charset="0"/>
                <a:cs typeface="Times New Roman" panose="02020603050405020304" pitchFamily="18" charset="0"/>
              </a:rPr>
              <a:t>Nguyên tắc phòng chống Data Leakage:</a:t>
            </a:r>
            <a:r>
              <a:rPr sz="1050" b="0" i="0" u="none">
                <a:solidFill>
                  <a:srgbClr val="1E3A8A"/>
                </a:solidFill>
                <a:latin typeface="Times New Roman" panose="02020603050405020304" pitchFamily="18" charset="0"/>
                <a:cs typeface="Times New Roman" panose="02020603050405020304" pitchFamily="18" charset="0"/>
              </a:rPr>
              <a:t> Thứ tự thời gian Train (70%) → Validation (15%) → Test (15%) được tuân thủ nghiêm ngặt. Mọi biến Lag và Imputer chỉ sử dụng dữ liệu đã hoàn tất trước thời điểm dự báo.</a:t>
            </a:r>
            <a:endParaRPr sz="1050" b="0" i="0" u="none">
              <a:solidFill>
                <a:srgbClr val="1E3A8A"/>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876300" y="3079402"/>
            <a:ext cx="3900487" cy="219075"/>
          </a:xfrm>
          <a:prstGeom prst="rect">
            <a:avLst/>
          </a:prstGeom>
          <a:noFill/>
        </p:spPr>
        <p:txBody>
          <a:bodyPr wrap="none" lIns="0" tIns="0" rIns="0" bIns="0" anchor="t">
            <a:spAutoFit/>
          </a:bodyPr>
          <a:lstStyle/>
          <a:p>
            <a:pPr algn="l"/>
            <a:r>
              <a:rPr sz="1350" b="1" i="0" u="none">
                <a:solidFill>
                  <a:srgbClr val="0F172A"/>
                </a:solidFill>
                <a:latin typeface="Times New Roman" panose="02020603050405020304" pitchFamily="18" charset="0"/>
                <a:cs typeface="Times New Roman" panose="02020603050405020304" pitchFamily="18" charset="0"/>
              </a:rPr>
              <a:t>Dự Báo Cuốn Chiếu (15 min)</a:t>
            </a:r>
            <a:endParaRPr sz="1350" b="1" i="0" u="none">
              <a:solidFill>
                <a:srgbClr val="0F172A"/>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876300" y="3374677"/>
            <a:ext cx="3067050" cy="642937"/>
          </a:xfrm>
          <a:prstGeom prst="rect">
            <a:avLst/>
          </a:prstGeom>
          <a:noFill/>
        </p:spPr>
        <p:txBody>
          <a:bodyPr wrap="square" lIns="0" tIns="0" rIns="0" bIns="0" anchor="t">
            <a:spAutoFit/>
          </a:bodyPr>
          <a:lstStyle/>
          <a:p>
            <a:pPr algn="l">
              <a:lnSpc>
                <a:spcPts val="1685"/>
              </a:lnSpc>
            </a:pPr>
            <a:r>
              <a:rPr sz="1125" b="0" i="0" u="none" dirty="0" err="1">
                <a:solidFill>
                  <a:srgbClr val="475569"/>
                </a:solidFill>
                <a:latin typeface="Times New Roman" panose="02020603050405020304" pitchFamily="18" charset="0"/>
                <a:cs typeface="Times New Roman" panose="02020603050405020304" pitchFamily="18" charset="0"/>
              </a:rPr>
              <a:t>Dự</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đoán</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năng</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lượng</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phát</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ra</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cho</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khoảng</a:t>
            </a:r>
            <a:r>
              <a:rPr sz="1125" b="0" i="0" u="none" dirty="0">
                <a:solidFill>
                  <a:srgbClr val="475569"/>
                </a:solidFill>
                <a:latin typeface="Times New Roman" panose="02020603050405020304" pitchFamily="18" charset="0"/>
                <a:cs typeface="Times New Roman" panose="02020603050405020304" pitchFamily="18" charset="0"/>
              </a:rPr>
              <a:t> </a:t>
            </a:r>
            <a:r>
              <a:rPr sz="975" b="0" i="0" u="none" dirty="0">
                <a:solidFill>
                  <a:srgbClr val="475569"/>
                </a:solidFill>
                <a:latin typeface="Times New Roman" panose="02020603050405020304" pitchFamily="18" charset="0"/>
                <a:cs typeface="Times New Roman" panose="02020603050405020304" pitchFamily="18" charset="0"/>
              </a:rPr>
              <a:t>[T, T+15m)</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Cập</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nhật</a:t>
            </a:r>
            <a:r>
              <a:rPr sz="1125" b="0" i="0" u="none" dirty="0">
                <a:solidFill>
                  <a:srgbClr val="475569"/>
                </a:solidFill>
                <a:latin typeface="Times New Roman" panose="02020603050405020304" pitchFamily="18" charset="0"/>
                <a:cs typeface="Times New Roman" panose="02020603050405020304" pitchFamily="18" charset="0"/>
              </a:rPr>
              <a:t> lag </a:t>
            </a:r>
            <a:r>
              <a:rPr sz="1125" b="0" i="0" u="none" dirty="0" err="1">
                <a:solidFill>
                  <a:srgbClr val="475569"/>
                </a:solidFill>
                <a:latin typeface="Times New Roman" panose="02020603050405020304" pitchFamily="18" charset="0"/>
                <a:cs typeface="Times New Roman" panose="02020603050405020304" pitchFamily="18" charset="0"/>
              </a:rPr>
              <a:t>thực</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tế</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ngay</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khi</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bước</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vừa</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kết</a:t>
            </a:r>
            <a:r>
              <a:rPr sz="1125" b="0" i="0" u="none" dirty="0">
                <a:solidFill>
                  <a:srgbClr val="475569"/>
                </a:solidFill>
                <a:latin typeface="Times New Roman" panose="02020603050405020304" pitchFamily="18" charset="0"/>
                <a:cs typeface="Times New Roman" panose="02020603050405020304" pitchFamily="18" charset="0"/>
              </a:rPr>
              <a:t> </a:t>
            </a:r>
            <a:r>
              <a:rPr sz="1125" b="0" i="0" u="none" dirty="0" err="1">
                <a:solidFill>
                  <a:srgbClr val="475569"/>
                </a:solidFill>
                <a:latin typeface="Times New Roman" panose="02020603050405020304" pitchFamily="18" charset="0"/>
                <a:cs typeface="Times New Roman" panose="02020603050405020304" pitchFamily="18" charset="0"/>
              </a:rPr>
              <a:t>thúc</a:t>
            </a:r>
            <a:r>
              <a:rPr sz="1125" b="0" i="0" u="none" dirty="0">
                <a:solidFill>
                  <a:srgbClr val="475569"/>
                </a:solidFill>
                <a:latin typeface="Times New Roman" panose="02020603050405020304" pitchFamily="18" charset="0"/>
                <a:cs typeface="Times New Roman" panose="02020603050405020304" pitchFamily="18" charset="0"/>
              </a:rPr>
              <a:t>.</a:t>
            </a:r>
            <a:endParaRPr sz="1125" b="0" i="0" u="none" dirty="0">
              <a:solidFill>
                <a:srgbClr val="475569"/>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4610100" y="3079402"/>
            <a:ext cx="3900487" cy="219075"/>
          </a:xfrm>
          <a:prstGeom prst="rect">
            <a:avLst/>
          </a:prstGeom>
          <a:noFill/>
        </p:spPr>
        <p:txBody>
          <a:bodyPr wrap="none" lIns="0" tIns="0" rIns="0" bIns="0" anchor="t">
            <a:spAutoFit/>
          </a:bodyPr>
          <a:lstStyle/>
          <a:p>
            <a:pPr algn="l"/>
            <a:r>
              <a:rPr sz="1350" b="1" i="0" u="none">
                <a:solidFill>
                  <a:srgbClr val="0F172A"/>
                </a:solidFill>
                <a:latin typeface="Times New Roman" panose="02020603050405020304" pitchFamily="18" charset="0"/>
                <a:cs typeface="Times New Roman" panose="02020603050405020304" pitchFamily="18" charset="0"/>
              </a:rPr>
              <a:t>Sàng Lọc Bất Thường</a:t>
            </a:r>
            <a:endParaRPr sz="1350" b="1" i="0" u="none">
              <a:solidFill>
                <a:srgbClr val="0F172A"/>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4610100" y="3374677"/>
            <a:ext cx="3067050" cy="857250"/>
          </a:xfrm>
          <a:prstGeom prst="rect">
            <a:avLst/>
          </a:prstGeom>
          <a:noFill/>
        </p:spPr>
        <p:txBody>
          <a:bodyPr wrap="square" lIns="0" tIns="0" rIns="0" bIns="0" anchor="t">
            <a:spAutoFit/>
          </a:bodyPr>
          <a:lstStyle/>
          <a:p>
            <a:pPr algn="l">
              <a:lnSpc>
                <a:spcPts val="1685"/>
              </a:lnSpc>
            </a:pPr>
            <a:r>
              <a:rPr sz="1125" b="0" i="0" u="none">
                <a:solidFill>
                  <a:srgbClr val="475569"/>
                </a:solidFill>
                <a:latin typeface="Times New Roman" panose="02020603050405020304" pitchFamily="18" charset="0"/>
                <a:cs typeface="Times New Roman" panose="02020603050405020304" pitchFamily="18" charset="0"/>
              </a:rPr>
              <a:t>Sử dụng Reference XGBoost ước tính thuần từ thời tiết/góc mặt trời để tính Performance Ratio và phân nhóm ưu tiên.</a:t>
            </a:r>
            <a:endParaRPr sz="1125" b="0" i="0" u="none">
              <a:solidFill>
                <a:srgbClr val="475569"/>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8343900" y="3079402"/>
            <a:ext cx="3848100" cy="219075"/>
          </a:xfrm>
          <a:prstGeom prst="rect">
            <a:avLst/>
          </a:prstGeom>
          <a:noFill/>
        </p:spPr>
        <p:txBody>
          <a:bodyPr wrap="none" lIns="0" tIns="0" rIns="0" bIns="0" anchor="t">
            <a:spAutoFit/>
          </a:bodyPr>
          <a:lstStyle/>
          <a:p>
            <a:pPr algn="l"/>
            <a:r>
              <a:rPr sz="1350" b="1" i="0" u="none">
                <a:solidFill>
                  <a:srgbClr val="0F172A"/>
                </a:solidFill>
                <a:latin typeface="Times New Roman" panose="02020603050405020304" pitchFamily="18" charset="0"/>
                <a:cs typeface="Times New Roman" panose="02020603050405020304" pitchFamily="18" charset="0"/>
              </a:rPr>
              <a:t>Phạm Vi 25 Site Đủ Đơn Vị</a:t>
            </a:r>
            <a:endParaRPr sz="1350" b="1" i="0" u="none">
              <a:solidFill>
                <a:srgbClr val="0F172A"/>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8343900" y="3374677"/>
            <a:ext cx="3067050" cy="642937"/>
          </a:xfrm>
          <a:prstGeom prst="rect">
            <a:avLst/>
          </a:prstGeom>
          <a:noFill/>
        </p:spPr>
        <p:txBody>
          <a:bodyPr wrap="square" lIns="0" tIns="0" rIns="0" bIns="0" anchor="t">
            <a:spAutoFit/>
          </a:bodyPr>
          <a:lstStyle/>
          <a:p>
            <a:pPr algn="l">
              <a:lnSpc>
                <a:spcPts val="1685"/>
              </a:lnSpc>
            </a:pPr>
            <a:r>
              <a:rPr sz="1125" b="0" i="0" u="none">
                <a:solidFill>
                  <a:srgbClr val="475569"/>
                </a:solidFill>
                <a:latin typeface="Times New Roman" panose="02020603050405020304" pitchFamily="18" charset="0"/>
                <a:cs typeface="Times New Roman" panose="02020603050405020304" pitchFamily="18" charset="0"/>
              </a:rPr>
              <a:t>Lọc bỏ 17 site thiếu trường Metric. Xử lý trên lưới 15 phút chuẩn hóa với 150.164 target quan sát được trên tập Test độc lập.</a:t>
            </a:r>
            <a:endParaRPr sz="1125" b="0" i="0" u="none">
              <a:solidFill>
                <a:srgbClr val="47556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936730" y="2822227"/>
            <a:ext cx="4645669" cy="2009775"/>
          </a:xfrm>
          <a:prstGeom prst="roundRect">
            <a:avLst>
              <a:gd name="adj" fmla="val 5687"/>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3" name="Picture 2" descr="image.png"/>
          <p:cNvPicPr>
            <a:picLocks noChangeAspect="1"/>
          </p:cNvPicPr>
          <p:nvPr/>
        </p:nvPicPr>
        <p:blipFill>
          <a:blip r:embed="rId1"/>
          <a:stretch>
            <a:fillRect/>
          </a:stretch>
        </p:blipFill>
        <p:spPr>
          <a:xfrm>
            <a:off x="7174855" y="3084165"/>
            <a:ext cx="152400" cy="152400"/>
          </a:xfrm>
          <a:prstGeom prst="rect">
            <a:avLst/>
          </a:prstGeom>
        </p:spPr>
      </p:pic>
      <p:graphicFrame>
        <p:nvGraphicFramePr>
          <p:cNvPr id="4" name="Table 3"/>
          <p:cNvGraphicFramePr>
            <a:graphicFrameLocks noGrp="1"/>
          </p:cNvGraphicFramePr>
          <p:nvPr/>
        </p:nvGraphicFramePr>
        <p:xfrm>
          <a:off x="609600" y="2388840"/>
          <a:ext cx="6022328" cy="2876550"/>
        </p:xfrm>
        <a:graphic>
          <a:graphicData uri="http://schemas.openxmlformats.org/drawingml/2006/table">
            <a:tbl>
              <a:tblPr/>
              <a:tblGrid>
                <a:gridCol w="1303436"/>
                <a:gridCol w="1226343"/>
                <a:gridCol w="3492549"/>
              </a:tblGrid>
              <a:tr h="575310">
                <a:tc>
                  <a:txBody>
                    <a:bodyPr/>
                    <a:lstStyle/>
                    <a:p>
                      <a:pPr algn="l"/>
                      <a:r>
                        <a:rPr sz="1050" b="1" i="0" u="none">
                          <a:solidFill>
                            <a:srgbClr val="FFFFFF"/>
                          </a:solidFill>
                          <a:latin typeface="Times New Roman" panose="02020603050405020304" pitchFamily="18" charset="0"/>
                          <a:cs typeface="Times New Roman" panose="02020603050405020304" pitchFamily="18" charset="0"/>
                        </a:rPr>
                        <a:t>Bảng Dữ Liệu</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Ghi Nhận</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Nội Dung &amp; Vai Trò Trong Pipeline</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r>
              <a:tr h="575310">
                <a:tc>
                  <a:txBody>
                    <a:bodyPr/>
                    <a:lstStyle/>
                    <a:p>
                      <a:pPr algn="l"/>
                      <a:r>
                        <a:rPr sz="1050" b="1" i="0" u="none">
                          <a:solidFill>
                            <a:srgbClr val="0284C7"/>
                          </a:solidFill>
                          <a:latin typeface="Times New Roman" panose="02020603050405020304" pitchFamily="18" charset="0"/>
                          <a:cs typeface="Times New Roman" panose="02020603050405020304" pitchFamily="18" charset="0"/>
                        </a:rPr>
                        <a:t>Generation</a:t>
                      </a:r>
                      <a:endParaRPr sz="1050" b="1" i="0" u="none">
                        <a:solidFill>
                          <a:srgbClr val="0284C7"/>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2.731.946 hàng</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Nguồn nhãn mục tiêu (SolarGeneration) &amp; Lịch sử ngắn hạn</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r>
              <a:tr h="575310">
                <a:tc>
                  <a:txBody>
                    <a:bodyPr/>
                    <a:lstStyle/>
                    <a:p>
                      <a:pPr algn="l"/>
                      <a:r>
                        <a:rPr sz="1050" b="1" i="0" u="none">
                          <a:solidFill>
                            <a:srgbClr val="0D9488"/>
                          </a:solidFill>
                          <a:latin typeface="Times New Roman" panose="02020603050405020304" pitchFamily="18" charset="0"/>
                          <a:cs typeface="Times New Roman" panose="02020603050405020304" pitchFamily="18" charset="0"/>
                        </a:rPr>
                        <a:t>Weather</a:t>
                      </a:r>
                      <a:endParaRPr sz="1050" b="1" i="0" u="none">
                        <a:solidFill>
                          <a:srgbClr val="0D9488"/>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371.769 hàng</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Biến môi trường: Nhiệt độ, Độ ẩm, Tốc độ/Hướng gió theo Campus</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575310">
                <a:tc>
                  <a:txBody>
                    <a:bodyPr/>
                    <a:lstStyle/>
                    <a:p>
                      <a:pPr algn="l"/>
                      <a:r>
                        <a:rPr sz="1050" b="1" i="0" u="none">
                          <a:solidFill>
                            <a:srgbClr val="6366F1"/>
                          </a:solidFill>
                          <a:latin typeface="Times New Roman" panose="02020603050405020304" pitchFamily="18" charset="0"/>
                          <a:cs typeface="Times New Roman" panose="02020603050405020304" pitchFamily="18" charset="0"/>
                        </a:rPr>
                        <a:t>Metadata</a:t>
                      </a:r>
                      <a:endParaRPr sz="1050" b="1" i="0" u="none">
                        <a:solidFill>
                          <a:srgbClr val="6366F1"/>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42 hàng</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Xác nhận đơn vị Metric (kWh), tọa độ Lat/Lon, công suất kWp</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r>
              <a:tr h="575310">
                <a:tc>
                  <a:txBody>
                    <a:bodyPr/>
                    <a:lstStyle/>
                    <a:p>
                      <a:pPr algn="l"/>
                      <a:r>
                        <a:rPr sz="1050" b="1" i="0" u="none">
                          <a:solidFill>
                            <a:srgbClr val="64748B"/>
                          </a:solidFill>
                          <a:latin typeface="Times New Roman" panose="02020603050405020304" pitchFamily="18" charset="0"/>
                          <a:cs typeface="Times New Roman" panose="02020603050405020304" pitchFamily="18" charset="0"/>
                        </a:rPr>
                        <a:t>Monthly Summary</a:t>
                      </a:r>
                      <a:endParaRPr sz="1050" b="1" i="0" u="none">
                        <a:solidFill>
                          <a:srgbClr val="64748B"/>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1.176 hàng</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Thống kê tổng hợp tháng (chỉ dùng trong EDA, không dùng làm Predictor)</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bl>
          </a:graphicData>
        </a:graphic>
      </p:graphicFrame>
      <p:sp>
        <p:nvSpPr>
          <p:cNvPr id="5" name="TextBox 4"/>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3: DỮ LIỆU UNISOLAR</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Cấu Trúc Các Bảng Dữ Liệu Nguồn &amp; Kiểm Kê Inventory</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7403455" y="3060352"/>
            <a:ext cx="4788544" cy="200025"/>
          </a:xfrm>
          <a:prstGeom prst="rect">
            <a:avLst/>
          </a:prstGeom>
          <a:noFill/>
        </p:spPr>
        <p:txBody>
          <a:bodyPr wrap="none" lIns="0" tIns="0" rIns="0" bIns="0" anchor="ctr">
            <a:spAutoFit/>
          </a:bodyPr>
          <a:lstStyle/>
          <a:p>
            <a:pPr algn="l"/>
            <a:r>
              <a:rPr sz="1200" b="1" i="0" u="none">
                <a:solidFill>
                  <a:srgbClr val="0F172A"/>
                </a:solidFill>
                <a:latin typeface="Times New Roman" panose="02020603050405020304" pitchFamily="18" charset="0"/>
                <a:cs typeface="Times New Roman" panose="02020603050405020304" pitchFamily="18" charset="0"/>
              </a:rPr>
              <a:t>Giả Định Ngữ Nghĩa Quan Trọng</a:t>
            </a:r>
            <a:endParaRPr sz="1200" b="1" i="0" u="none">
              <a:solidFill>
                <a:srgbClr val="0F172A"/>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7346305" y="3374677"/>
            <a:ext cx="4093219" cy="342900"/>
          </a:xfrm>
          <a:prstGeom prst="rect">
            <a:avLst/>
          </a:prstGeom>
          <a:noFill/>
        </p:spPr>
        <p:txBody>
          <a:bodyPr wrap="squar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a:t>
            </a:r>
            <a:r>
              <a:rPr sz="1050" b="0" i="0" u="none">
                <a:solidFill>
                  <a:srgbClr val="334155"/>
                </a:solidFill>
                <a:latin typeface="Times New Roman" panose="02020603050405020304" pitchFamily="18" charset="0"/>
                <a:cs typeface="Times New Roman" panose="02020603050405020304" pitchFamily="18" charset="0"/>
              </a:rPr>
              <a:t> </a:t>
            </a:r>
            <a:r>
              <a:rPr sz="1050" b="1" i="0" u="none">
                <a:solidFill>
                  <a:srgbClr val="334155"/>
                </a:solidFill>
                <a:latin typeface="Times New Roman" panose="02020603050405020304" pitchFamily="18" charset="0"/>
                <a:cs typeface="Times New Roman" panose="02020603050405020304" pitchFamily="18" charset="0"/>
              </a:rPr>
              <a:t>Metric = kWh:</a:t>
            </a:r>
            <a:r>
              <a:rPr sz="1050" b="0" i="0" u="none">
                <a:solidFill>
                  <a:srgbClr val="334155"/>
                </a:solidFill>
                <a:latin typeface="Times New Roman" panose="02020603050405020304" pitchFamily="18" charset="0"/>
                <a:cs typeface="Times New Roman" panose="02020603050405020304" pitchFamily="18" charset="0"/>
              </a:rPr>
              <a:t> Nhãn là năng lượng từng khoảng 15 phút, không phải chỉ số công tơ tích lũy.</a:t>
            </a:r>
            <a:endParaRPr sz="1050" b="0" i="0" u="none">
              <a:solidFill>
                <a:srgbClr val="334155"/>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7346305" y="3812827"/>
            <a:ext cx="4093219" cy="342900"/>
          </a:xfrm>
          <a:prstGeom prst="rect">
            <a:avLst/>
          </a:prstGeom>
          <a:noFill/>
        </p:spPr>
        <p:txBody>
          <a:bodyPr wrap="squar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a:t>
            </a:r>
            <a:r>
              <a:rPr sz="1050" b="0" i="0" u="none">
                <a:solidFill>
                  <a:srgbClr val="334155"/>
                </a:solidFill>
                <a:latin typeface="Times New Roman" panose="02020603050405020304" pitchFamily="18" charset="0"/>
                <a:cs typeface="Times New Roman" panose="02020603050405020304" pitchFamily="18" charset="0"/>
              </a:rPr>
              <a:t> </a:t>
            </a:r>
            <a:r>
              <a:rPr sz="1050" b="1" i="0" u="none">
                <a:solidFill>
                  <a:srgbClr val="334155"/>
                </a:solidFill>
                <a:latin typeface="Times New Roman" panose="02020603050405020304" pitchFamily="18" charset="0"/>
                <a:cs typeface="Times New Roman" panose="02020603050405020304" pitchFamily="18" charset="0"/>
              </a:rPr>
              <a:t>Timestamp:</a:t>
            </a:r>
            <a:r>
              <a:rPr sz="1050" b="0" i="0" u="none">
                <a:solidFill>
                  <a:srgbClr val="334155"/>
                </a:solidFill>
                <a:latin typeface="Times New Roman" panose="02020603050405020304" pitchFamily="18" charset="0"/>
                <a:cs typeface="Times New Roman" panose="02020603050405020304" pitchFamily="18" charset="0"/>
              </a:rPr>
              <a:t> Đại diện cho mốc bắt đầu khoảng đo. Múi giờ UTC được chuẩn hóa, Melbourne dùng cho lịch địa phương.</a:t>
            </a:r>
            <a:endParaRPr sz="1050" b="0" i="0" u="none">
              <a:solidFill>
                <a:srgbClr val="334155"/>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346305" y="4250977"/>
            <a:ext cx="4093219" cy="342900"/>
          </a:xfrm>
          <a:prstGeom prst="rect">
            <a:avLst/>
          </a:prstGeom>
          <a:noFill/>
        </p:spPr>
        <p:txBody>
          <a:bodyPr wrap="squar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a:t>
            </a:r>
            <a:r>
              <a:rPr sz="1050" b="0" i="0" u="none">
                <a:solidFill>
                  <a:srgbClr val="334155"/>
                </a:solidFill>
                <a:latin typeface="Times New Roman" panose="02020603050405020304" pitchFamily="18" charset="0"/>
                <a:cs typeface="Times New Roman" panose="02020603050405020304" pitchFamily="18" charset="0"/>
              </a:rPr>
              <a:t> </a:t>
            </a:r>
            <a:r>
              <a:rPr sz="1050" b="1" i="0" u="none">
                <a:solidFill>
                  <a:srgbClr val="334155"/>
                </a:solidFill>
                <a:latin typeface="Times New Roman" panose="02020603050405020304" pitchFamily="18" charset="0"/>
                <a:cs typeface="Times New Roman" panose="02020603050405020304" pitchFamily="18" charset="0"/>
              </a:rPr>
              <a:t>Lọc 17 Site:</a:t>
            </a:r>
            <a:r>
              <a:rPr sz="1050" b="0" i="0" u="none">
                <a:solidFill>
                  <a:srgbClr val="334155"/>
                </a:solidFill>
                <a:latin typeface="Times New Roman" panose="02020603050405020304" pitchFamily="18" charset="0"/>
                <a:cs typeface="Times New Roman" panose="02020603050405020304" pitchFamily="18" charset="0"/>
              </a:rPr>
              <a:t> Thiếu Metric metadata → Loại khỏi modeling để tránh trộn sai đơn vị đo.</a:t>
            </a:r>
            <a:endParaRPr sz="1050" b="0" i="0" u="none">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368230"/>
            <a:ext cx="10972800" cy="581025"/>
          </a:xfrm>
          <a:prstGeom prst="roundRect">
            <a:avLst>
              <a:gd name="adj" fmla="val 13114"/>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6210300" y="1215330"/>
            <a:ext cx="5372100" cy="4000500"/>
          </a:xfrm>
          <a:prstGeom prst="roundRect">
            <a:avLst>
              <a:gd name="adj" fmla="val 2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5" name="Picture 4" descr="image.png"/>
          <p:cNvPicPr>
            <a:picLocks noChangeAspect="1"/>
          </p:cNvPicPr>
          <p:nvPr/>
        </p:nvPicPr>
        <p:blipFill>
          <a:blip r:embed="rId1"/>
          <a:stretch>
            <a:fillRect/>
          </a:stretch>
        </p:blipFill>
        <p:spPr>
          <a:xfrm>
            <a:off x="809625" y="5573017"/>
            <a:ext cx="171450" cy="171450"/>
          </a:xfrm>
          <a:prstGeom prst="rect">
            <a:avLst/>
          </a:prstGeom>
        </p:spPr>
      </p:pic>
      <p:pic>
        <p:nvPicPr>
          <p:cNvPr id="7" name="Picture 6" descr="image.png"/>
          <p:cNvPicPr>
            <a:picLocks noChangeAspect="1"/>
          </p:cNvPicPr>
          <p:nvPr/>
        </p:nvPicPr>
        <p:blipFill>
          <a:blip r:embed="rId2"/>
          <a:stretch>
            <a:fillRect/>
          </a:stretch>
        </p:blipFill>
        <p:spPr>
          <a:xfrm>
            <a:off x="6372225" y="1815405"/>
            <a:ext cx="5048250" cy="3048000"/>
          </a:xfrm>
          <a:prstGeom prst="rect">
            <a:avLst/>
          </a:prstGeom>
        </p:spPr>
      </p:pic>
      <p:sp>
        <p:nvSpPr>
          <p:cNvPr id="8" name="TextBox 7"/>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3: EDA &amp; ĐÁNH GIÁ CHẤT LƯỢNG</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Times New Roman" panose="02020603050405020304" pitchFamily="18" charset="0"/>
                <a:cs typeface="Times New Roman" panose="02020603050405020304" pitchFamily="18" charset="0"/>
              </a:rPr>
              <a:t>Đặc</a:t>
            </a:r>
            <a:r>
              <a:rPr sz="2100" b="1" i="0" u="none" dirty="0">
                <a:solidFill>
                  <a:srgbClr val="0F172A"/>
                </a:solidFill>
                <a:latin typeface="Times New Roman" panose="02020603050405020304" pitchFamily="18" charset="0"/>
                <a:cs typeface="Times New Roman" panose="02020603050405020304" pitchFamily="18" charset="0"/>
              </a:rPr>
              <a:t> </a:t>
            </a:r>
            <a:r>
              <a:rPr sz="2100" b="1" i="0" u="none" dirty="0" err="1">
                <a:solidFill>
                  <a:srgbClr val="0F172A"/>
                </a:solidFill>
                <a:latin typeface="Times New Roman" panose="02020603050405020304" pitchFamily="18" charset="0"/>
                <a:cs typeface="Times New Roman" panose="02020603050405020304" pitchFamily="18" charset="0"/>
              </a:rPr>
              <a:t>Tính</a:t>
            </a:r>
            <a:r>
              <a:rPr sz="2100" b="1" i="0" u="none" dirty="0">
                <a:solidFill>
                  <a:srgbClr val="0F172A"/>
                </a:solidFill>
                <a:latin typeface="Times New Roman" panose="02020603050405020304" pitchFamily="18" charset="0"/>
                <a:cs typeface="Times New Roman" panose="02020603050405020304" pitchFamily="18" charset="0"/>
              </a:rPr>
              <a:t> </a:t>
            </a:r>
            <a:r>
              <a:rPr sz="2100" b="1" i="0" u="none" dirty="0" err="1">
                <a:solidFill>
                  <a:srgbClr val="0F172A"/>
                </a:solidFill>
                <a:latin typeface="Times New Roman" panose="02020603050405020304" pitchFamily="18" charset="0"/>
                <a:cs typeface="Times New Roman" panose="02020603050405020304" pitchFamily="18" charset="0"/>
              </a:rPr>
              <a:t>Dữ</a:t>
            </a:r>
            <a:r>
              <a:rPr sz="2100" b="1" i="0" u="none" dirty="0">
                <a:solidFill>
                  <a:srgbClr val="0F172A"/>
                </a:solidFill>
                <a:latin typeface="Times New Roman" panose="02020603050405020304" pitchFamily="18" charset="0"/>
                <a:cs typeface="Times New Roman" panose="02020603050405020304" pitchFamily="18" charset="0"/>
              </a:rPr>
              <a:t> Liệu </a:t>
            </a:r>
            <a:r>
              <a:rPr sz="2100" b="1" i="0" u="none" dirty="0" err="1">
                <a:solidFill>
                  <a:srgbClr val="0F172A"/>
                </a:solidFill>
                <a:latin typeface="Times New Roman" panose="02020603050405020304" pitchFamily="18" charset="0"/>
                <a:cs typeface="Times New Roman" panose="02020603050405020304" pitchFamily="18" charset="0"/>
              </a:rPr>
              <a:t>Thiếu</a:t>
            </a:r>
            <a:r>
              <a:rPr sz="2100" b="1" i="0" u="none" dirty="0">
                <a:solidFill>
                  <a:srgbClr val="0F172A"/>
                </a:solidFill>
                <a:latin typeface="Times New Roman" panose="02020603050405020304" pitchFamily="18" charset="0"/>
                <a:cs typeface="Times New Roman" panose="02020603050405020304" pitchFamily="18" charset="0"/>
              </a:rPr>
              <a:t> &amp; </a:t>
            </a:r>
            <a:r>
              <a:rPr sz="2100" b="1" i="0" u="none" dirty="0" err="1">
                <a:solidFill>
                  <a:srgbClr val="0F172A"/>
                </a:solidFill>
                <a:latin typeface="Times New Roman" panose="02020603050405020304" pitchFamily="18" charset="0"/>
                <a:cs typeface="Times New Roman" panose="02020603050405020304" pitchFamily="18" charset="0"/>
              </a:rPr>
              <a:t>Phân</a:t>
            </a:r>
            <a:r>
              <a:rPr sz="2100" b="1" i="0" u="none" dirty="0">
                <a:solidFill>
                  <a:srgbClr val="0F172A"/>
                </a:solidFill>
                <a:latin typeface="Times New Roman" panose="02020603050405020304" pitchFamily="18" charset="0"/>
                <a:cs typeface="Times New Roman" panose="02020603050405020304" pitchFamily="18" charset="0"/>
              </a:rPr>
              <a:t> </a:t>
            </a:r>
            <a:r>
              <a:rPr sz="2100" b="1" i="0" u="none" dirty="0" err="1">
                <a:solidFill>
                  <a:srgbClr val="0F172A"/>
                </a:solidFill>
                <a:latin typeface="Times New Roman" panose="02020603050405020304" pitchFamily="18" charset="0"/>
                <a:cs typeface="Times New Roman" panose="02020603050405020304" pitchFamily="18" charset="0"/>
              </a:rPr>
              <a:t>Bố</a:t>
            </a:r>
            <a:r>
              <a:rPr sz="2100" b="1" i="0" u="none" dirty="0">
                <a:solidFill>
                  <a:srgbClr val="0F172A"/>
                </a:solidFill>
                <a:latin typeface="Times New Roman" panose="02020603050405020304" pitchFamily="18" charset="0"/>
                <a:cs typeface="Times New Roman" panose="02020603050405020304" pitchFamily="18" charset="0"/>
              </a:rPr>
              <a:t> </a:t>
            </a:r>
            <a:r>
              <a:rPr sz="2100" b="1" i="0" u="none" dirty="0" err="1">
                <a:solidFill>
                  <a:srgbClr val="0F172A"/>
                </a:solidFill>
                <a:latin typeface="Times New Roman" panose="02020603050405020304" pitchFamily="18" charset="0"/>
                <a:cs typeface="Times New Roman" panose="02020603050405020304" pitchFamily="18" charset="0"/>
              </a:rPr>
              <a:t>Sản</a:t>
            </a:r>
            <a:r>
              <a:rPr sz="2100" b="1" i="0" u="none" dirty="0">
                <a:solidFill>
                  <a:srgbClr val="0F172A"/>
                </a:solidFill>
                <a:latin typeface="Times New Roman" panose="02020603050405020304" pitchFamily="18" charset="0"/>
                <a:cs typeface="Times New Roman" panose="02020603050405020304" pitchFamily="18" charset="0"/>
              </a:rPr>
              <a:t> </a:t>
            </a:r>
            <a:r>
              <a:rPr sz="2100" b="1" i="0" u="none" dirty="0" err="1">
                <a:solidFill>
                  <a:srgbClr val="0F172A"/>
                </a:solidFill>
                <a:latin typeface="Times New Roman" panose="02020603050405020304" pitchFamily="18" charset="0"/>
                <a:cs typeface="Times New Roman" panose="02020603050405020304" pitchFamily="18" charset="0"/>
              </a:rPr>
              <a:t>Lượng</a:t>
            </a:r>
            <a:r>
              <a:rPr sz="2100" b="1" i="0" u="none" dirty="0">
                <a:solidFill>
                  <a:srgbClr val="0F172A"/>
                </a:solidFill>
                <a:latin typeface="Times New Roman" panose="02020603050405020304" pitchFamily="18" charset="0"/>
                <a:cs typeface="Times New Roman" panose="02020603050405020304" pitchFamily="18" charset="0"/>
              </a:rPr>
              <a:t> Quan </a:t>
            </a:r>
            <a:r>
              <a:rPr sz="2100" b="1" i="0" u="none" dirty="0" err="1">
                <a:solidFill>
                  <a:srgbClr val="0F172A"/>
                </a:solidFill>
                <a:latin typeface="Times New Roman" panose="02020603050405020304" pitchFamily="18" charset="0"/>
                <a:cs typeface="Times New Roman" panose="02020603050405020304" pitchFamily="18" charset="0"/>
              </a:rPr>
              <a:t>Sát</a:t>
            </a:r>
            <a:endParaRPr sz="2100" b="1" i="0" u="none" dirty="0">
              <a:solidFill>
                <a:srgbClr val="0F172A"/>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095375" y="5452842"/>
            <a:ext cx="10382250" cy="369332"/>
          </a:xfrm>
          <a:prstGeom prst="rect">
            <a:avLst/>
          </a:prstGeom>
          <a:noFill/>
        </p:spPr>
        <p:txBody>
          <a:bodyPr wrap="square" lIns="0" tIns="0" rIns="0" bIns="0" anchor="t">
            <a:spAutoFit/>
          </a:bodyPr>
          <a:lstStyle/>
          <a:p>
            <a:pPr algn="l"/>
            <a:r>
              <a:rPr sz="1200" b="1" i="0" u="none" dirty="0">
                <a:solidFill>
                  <a:srgbClr val="991B1B"/>
                </a:solidFill>
                <a:latin typeface="Times New Roman" panose="02020603050405020304" pitchFamily="18" charset="0"/>
                <a:cs typeface="Times New Roman" panose="02020603050405020304" pitchFamily="18" charset="0"/>
              </a:rPr>
              <a:t>Quy </a:t>
            </a:r>
            <a:r>
              <a:rPr sz="1200" b="1" i="0" u="none" dirty="0" err="1">
                <a:solidFill>
                  <a:srgbClr val="991B1B"/>
                </a:solidFill>
                <a:latin typeface="Times New Roman" panose="02020603050405020304" pitchFamily="18" charset="0"/>
                <a:cs typeface="Times New Roman" panose="02020603050405020304" pitchFamily="18" charset="0"/>
              </a:rPr>
              <a:t>Tắc</a:t>
            </a:r>
            <a:r>
              <a:rPr sz="1200" b="1" i="0" u="none" dirty="0">
                <a:solidFill>
                  <a:srgbClr val="991B1B"/>
                </a:solidFill>
                <a:latin typeface="Times New Roman" panose="02020603050405020304" pitchFamily="18" charset="0"/>
                <a:cs typeface="Times New Roman" panose="02020603050405020304" pitchFamily="18" charset="0"/>
              </a:rPr>
              <a:t> </a:t>
            </a:r>
            <a:r>
              <a:rPr sz="1200" b="1" i="0" u="none" dirty="0" err="1">
                <a:solidFill>
                  <a:srgbClr val="991B1B"/>
                </a:solidFill>
                <a:latin typeface="Times New Roman" panose="02020603050405020304" pitchFamily="18" charset="0"/>
                <a:cs typeface="Times New Roman" panose="02020603050405020304" pitchFamily="18" charset="0"/>
              </a:rPr>
              <a:t>Vàng</a:t>
            </a:r>
            <a:r>
              <a:rPr sz="1200" b="1" i="0" u="none" dirty="0">
                <a:solidFill>
                  <a:srgbClr val="991B1B"/>
                </a:solidFill>
                <a:latin typeface="Times New Roman" panose="02020603050405020304" pitchFamily="18" charset="0"/>
                <a:cs typeface="Times New Roman" panose="02020603050405020304" pitchFamily="18" charset="0"/>
              </a:rPr>
              <a:t> </a:t>
            </a:r>
            <a:r>
              <a:rPr sz="1200" b="1" i="0" u="none" dirty="0" err="1">
                <a:solidFill>
                  <a:srgbClr val="991B1B"/>
                </a:solidFill>
                <a:latin typeface="Times New Roman" panose="02020603050405020304" pitchFamily="18" charset="0"/>
                <a:cs typeface="Times New Roman" panose="02020603050405020304" pitchFamily="18" charset="0"/>
              </a:rPr>
              <a:t>Tiền</a:t>
            </a:r>
            <a:r>
              <a:rPr sz="1200" b="1" i="0" u="none" dirty="0">
                <a:solidFill>
                  <a:srgbClr val="991B1B"/>
                </a:solidFill>
                <a:latin typeface="Times New Roman" panose="02020603050405020304" pitchFamily="18" charset="0"/>
                <a:cs typeface="Times New Roman" panose="02020603050405020304" pitchFamily="18" charset="0"/>
              </a:rPr>
              <a:t> </a:t>
            </a:r>
            <a:r>
              <a:rPr sz="1200" b="1" i="0" u="none" dirty="0" err="1">
                <a:solidFill>
                  <a:srgbClr val="991B1B"/>
                </a:solidFill>
                <a:latin typeface="Times New Roman" panose="02020603050405020304" pitchFamily="18" charset="0"/>
                <a:cs typeface="Times New Roman" panose="02020603050405020304" pitchFamily="18" charset="0"/>
              </a:rPr>
              <a:t>Xử</a:t>
            </a:r>
            <a:r>
              <a:rPr sz="1200" b="1" i="0" u="none" dirty="0">
                <a:solidFill>
                  <a:srgbClr val="991B1B"/>
                </a:solidFill>
                <a:latin typeface="Times New Roman" panose="02020603050405020304" pitchFamily="18" charset="0"/>
                <a:cs typeface="Times New Roman" panose="02020603050405020304" pitchFamily="18" charset="0"/>
              </a:rPr>
              <a:t> Lý:</a:t>
            </a:r>
            <a:r>
              <a:rPr sz="1200" b="0" i="0" u="none" dirty="0">
                <a:solidFill>
                  <a:srgbClr val="991B1B"/>
                </a:solidFill>
                <a:latin typeface="Times New Roman" panose="02020603050405020304" pitchFamily="18" charset="0"/>
                <a:cs typeface="Times New Roman" panose="02020603050405020304" pitchFamily="18" charset="0"/>
              </a:rPr>
              <a:t> Target </a:t>
            </a:r>
            <a:r>
              <a:rPr sz="1200" b="0" i="0" u="none" dirty="0" err="1">
                <a:solidFill>
                  <a:srgbClr val="991B1B"/>
                </a:solidFill>
                <a:latin typeface="Times New Roman" panose="02020603050405020304" pitchFamily="18" charset="0"/>
                <a:cs typeface="Times New Roman" panose="02020603050405020304" pitchFamily="18" charset="0"/>
              </a:rPr>
              <a:t>thiếu</a:t>
            </a:r>
            <a:r>
              <a:rPr sz="1200" b="0" i="0" u="none" dirty="0">
                <a:solidFill>
                  <a:srgbClr val="991B1B"/>
                </a:solidFill>
                <a:latin typeface="Times New Roman" panose="02020603050405020304" pitchFamily="18" charset="0"/>
                <a:cs typeface="Times New Roman" panose="02020603050405020304" pitchFamily="18" charset="0"/>
              </a:rPr>
              <a:t> (</a:t>
            </a:r>
            <a:r>
              <a:rPr sz="1200" b="1" i="0" u="none" dirty="0">
                <a:solidFill>
                  <a:srgbClr val="991B1B"/>
                </a:solidFill>
                <a:latin typeface="Times New Roman" panose="02020603050405020304" pitchFamily="18" charset="0"/>
                <a:cs typeface="Times New Roman" panose="02020603050405020304" pitchFamily="18" charset="0"/>
              </a:rPr>
              <a:t>56,23%</a:t>
            </a:r>
            <a:r>
              <a:rPr sz="1200" b="0" i="0" u="none" dirty="0">
                <a:solidFill>
                  <a:srgbClr val="991B1B"/>
                </a:solidFill>
                <a:latin typeface="Times New Roman" panose="02020603050405020304" pitchFamily="18" charset="0"/>
                <a:cs typeface="Times New Roman" panose="02020603050405020304" pitchFamily="18" charset="0"/>
              </a:rPr>
              <a:t>) KHÔNG ĐƯỢC </a:t>
            </a:r>
            <a:r>
              <a:rPr sz="1200" b="0" i="0" u="none" dirty="0" err="1">
                <a:solidFill>
                  <a:srgbClr val="991B1B"/>
                </a:solidFill>
                <a:latin typeface="Times New Roman" panose="02020603050405020304" pitchFamily="18" charset="0"/>
                <a:cs typeface="Times New Roman" panose="02020603050405020304" pitchFamily="18" charset="0"/>
              </a:rPr>
              <a:t>điền</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bằng</a:t>
            </a:r>
            <a:r>
              <a:rPr sz="1200" b="0" i="0" u="none" dirty="0">
                <a:solidFill>
                  <a:srgbClr val="991B1B"/>
                </a:solidFill>
                <a:latin typeface="Times New Roman" panose="02020603050405020304" pitchFamily="18" charset="0"/>
                <a:cs typeface="Times New Roman" panose="02020603050405020304" pitchFamily="18" charset="0"/>
              </a:rPr>
              <a:t> 0! Trong </a:t>
            </a:r>
            <a:r>
              <a:rPr sz="1200" b="0" i="0" u="none" dirty="0" err="1">
                <a:solidFill>
                  <a:srgbClr val="991B1B"/>
                </a:solidFill>
                <a:latin typeface="Times New Roman" panose="02020603050405020304" pitchFamily="18" charset="0"/>
                <a:cs typeface="Times New Roman" panose="02020603050405020304" pitchFamily="18" charset="0"/>
              </a:rPr>
              <a:t>dữ</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liệu</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quan</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sát</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không</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có</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nhãn</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bằng</a:t>
            </a:r>
            <a:r>
              <a:rPr sz="1200" b="0" i="0" u="none" dirty="0">
                <a:solidFill>
                  <a:srgbClr val="991B1B"/>
                </a:solidFill>
                <a:latin typeface="Times New Roman" panose="02020603050405020304" pitchFamily="18" charset="0"/>
                <a:cs typeface="Times New Roman" panose="02020603050405020304" pitchFamily="18" charset="0"/>
              </a:rPr>
              <a:t> 0. </a:t>
            </a:r>
            <a:r>
              <a:rPr sz="1200" b="0" i="0" u="none" dirty="0" err="1">
                <a:solidFill>
                  <a:srgbClr val="991B1B"/>
                </a:solidFill>
                <a:latin typeface="Times New Roman" panose="02020603050405020304" pitchFamily="18" charset="0"/>
                <a:cs typeface="Times New Roman" panose="02020603050405020304" pitchFamily="18" charset="0"/>
              </a:rPr>
              <a:t>Điền</a:t>
            </a:r>
            <a:r>
              <a:rPr sz="1200" b="0" i="0" u="none" dirty="0">
                <a:solidFill>
                  <a:srgbClr val="991B1B"/>
                </a:solidFill>
                <a:latin typeface="Times New Roman" panose="02020603050405020304" pitchFamily="18" charset="0"/>
                <a:cs typeface="Times New Roman" panose="02020603050405020304" pitchFamily="18" charset="0"/>
              </a:rPr>
              <a:t> 0 </a:t>
            </a:r>
            <a:r>
              <a:rPr sz="1200" b="0" i="0" u="none" dirty="0" err="1">
                <a:solidFill>
                  <a:srgbClr val="991B1B"/>
                </a:solidFill>
                <a:latin typeface="Times New Roman" panose="02020603050405020304" pitchFamily="18" charset="0"/>
                <a:cs typeface="Times New Roman" panose="02020603050405020304" pitchFamily="18" charset="0"/>
              </a:rPr>
              <a:t>sẽ</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làm</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mô</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hình</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học</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sai</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các</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đợt</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mất</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kết</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nối</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thành</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phát</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điện</a:t>
            </a:r>
            <a:r>
              <a:rPr sz="1200" b="0" i="0" u="none" dirty="0">
                <a:solidFill>
                  <a:srgbClr val="991B1B"/>
                </a:solidFill>
                <a:latin typeface="Times New Roman" panose="02020603050405020304" pitchFamily="18" charset="0"/>
                <a:cs typeface="Times New Roman" panose="02020603050405020304" pitchFamily="18" charset="0"/>
              </a:rPr>
              <a:t> </a:t>
            </a:r>
            <a:r>
              <a:rPr sz="1200" b="0" i="0" u="none" dirty="0" err="1">
                <a:solidFill>
                  <a:srgbClr val="991B1B"/>
                </a:solidFill>
                <a:latin typeface="Times New Roman" panose="02020603050405020304" pitchFamily="18" charset="0"/>
                <a:cs typeface="Times New Roman" panose="02020603050405020304" pitchFamily="18" charset="0"/>
              </a:rPr>
              <a:t>bằng</a:t>
            </a:r>
            <a:r>
              <a:rPr sz="1200" b="0" i="0" u="none" dirty="0">
                <a:solidFill>
                  <a:srgbClr val="991B1B"/>
                </a:solidFill>
                <a:latin typeface="Times New Roman" panose="02020603050405020304" pitchFamily="18" charset="0"/>
                <a:cs typeface="Times New Roman" panose="02020603050405020304" pitchFamily="18" charset="0"/>
              </a:rPr>
              <a:t> 0.</a:t>
            </a:r>
            <a:endParaRPr sz="1200" b="0" i="0" u="none" dirty="0">
              <a:solidFill>
                <a:srgbClr val="991B1B"/>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7281862" y="1567755"/>
            <a:ext cx="2284280" cy="323165"/>
          </a:xfrm>
          <a:prstGeom prst="rect">
            <a:avLst/>
          </a:prstGeom>
          <a:noFill/>
        </p:spPr>
        <p:txBody>
          <a:bodyPr wrap="none" lIns="0" tIns="0" rIns="0" bIns="0" anchor="t">
            <a:spAutoFit/>
          </a:bodyPr>
          <a:lstStyle/>
          <a:p>
            <a:r>
              <a:rPr lang="en-US" sz="1050" b="1" dirty="0" err="1">
                <a:solidFill>
                  <a:srgbClr val="0F172A"/>
                </a:solidFill>
                <a:latin typeface="Times New Roman" panose="02020603050405020304" pitchFamily="18" charset="0"/>
                <a:cs typeface="Times New Roman" panose="02020603050405020304" pitchFamily="18" charset="0"/>
              </a:rPr>
              <a:t>Tỷ</a:t>
            </a:r>
            <a:r>
              <a:rPr lang="en-US" sz="1050" b="1" dirty="0">
                <a:solidFill>
                  <a:srgbClr val="0F172A"/>
                </a:solidFill>
                <a:latin typeface="Times New Roman" panose="02020603050405020304" pitchFamily="18" charset="0"/>
                <a:cs typeface="Times New Roman" panose="02020603050405020304" pitchFamily="18" charset="0"/>
              </a:rPr>
              <a:t> </a:t>
            </a:r>
            <a:r>
              <a:rPr lang="en-US" sz="1050" b="1" dirty="0" err="1">
                <a:solidFill>
                  <a:srgbClr val="0F172A"/>
                </a:solidFill>
                <a:latin typeface="Times New Roman" panose="02020603050405020304" pitchFamily="18" charset="0"/>
                <a:cs typeface="Times New Roman" panose="02020603050405020304" pitchFamily="18" charset="0"/>
              </a:rPr>
              <a:t>Lệ</a:t>
            </a:r>
            <a:r>
              <a:rPr lang="en-US" sz="1050" b="1" dirty="0">
                <a:solidFill>
                  <a:srgbClr val="0F172A"/>
                </a:solidFill>
                <a:latin typeface="Times New Roman" panose="02020603050405020304" pitchFamily="18" charset="0"/>
                <a:cs typeface="Times New Roman" panose="02020603050405020304" pitchFamily="18" charset="0"/>
              </a:rPr>
              <a:t> Target </a:t>
            </a:r>
            <a:r>
              <a:rPr lang="en-US" sz="1050" b="1" dirty="0" err="1">
                <a:solidFill>
                  <a:srgbClr val="0F172A"/>
                </a:solidFill>
                <a:latin typeface="Times New Roman" panose="02020603050405020304" pitchFamily="18" charset="0"/>
                <a:cs typeface="Times New Roman" panose="02020603050405020304" pitchFamily="18" charset="0"/>
              </a:rPr>
              <a:t>Thiếu</a:t>
            </a:r>
            <a:r>
              <a:rPr lang="en-US" sz="1050" b="1" dirty="0">
                <a:solidFill>
                  <a:srgbClr val="0F172A"/>
                </a:solidFill>
                <a:latin typeface="Times New Roman" panose="02020603050405020304" pitchFamily="18" charset="0"/>
                <a:cs typeface="Times New Roman" panose="02020603050405020304" pitchFamily="18" charset="0"/>
              </a:rPr>
              <a:t> Theo Site (52% – 74%)</a:t>
            </a:r>
            <a:endParaRPr lang="en-US" sz="1050" b="1" dirty="0">
              <a:solidFill>
                <a:srgbClr val="0F172A"/>
              </a:solidFill>
              <a:latin typeface="Times New Roman" panose="02020603050405020304" pitchFamily="18" charset="0"/>
              <a:cs typeface="Times New Roman" panose="02020603050405020304" pitchFamily="18" charset="0"/>
            </a:endParaRPr>
          </a:p>
          <a:p>
            <a:pPr algn="l"/>
            <a:r>
              <a:rPr sz="1050" b="1" i="0" u="none" dirty="0">
                <a:solidFill>
                  <a:srgbClr val="0F172A"/>
                </a:solidFill>
                <a:latin typeface="Times New Roman" panose="02020603050405020304" pitchFamily="18" charset="0"/>
                <a:cs typeface="Times New Roman" panose="02020603050405020304" pitchFamily="18" charset="0"/>
              </a:rPr>
              <a:t>)</a:t>
            </a:r>
            <a:endParaRPr sz="1050" b="1" i="0" u="none" dirty="0">
              <a:solidFill>
                <a:srgbClr val="0F172A"/>
              </a:solidFill>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3"/>
          <a:stretch>
            <a:fillRect/>
          </a:stretch>
        </p:blipFill>
        <p:spPr>
          <a:xfrm>
            <a:off x="6587540" y="1815405"/>
            <a:ext cx="4617620" cy="3048000"/>
          </a:xfrm>
          <a:prstGeom prst="rect">
            <a:avLst/>
          </a:prstGeom>
        </p:spPr>
      </p:pic>
      <p:pic>
        <p:nvPicPr>
          <p:cNvPr id="22" name="Picture 21"/>
          <p:cNvPicPr>
            <a:picLocks noChangeAspect="1"/>
          </p:cNvPicPr>
          <p:nvPr/>
        </p:nvPicPr>
        <p:blipFill>
          <a:blip r:embed="rId4"/>
          <a:stretch>
            <a:fillRect/>
          </a:stretch>
        </p:blipFill>
        <p:spPr>
          <a:xfrm>
            <a:off x="1450690" y="1729337"/>
            <a:ext cx="5295391" cy="19923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1215330"/>
            <a:ext cx="5372100" cy="381000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10300" y="1215330"/>
            <a:ext cx="5372100" cy="381000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609600" y="5215830"/>
            <a:ext cx="5391150" cy="600075"/>
          </a:xfrm>
          <a:prstGeom prst="roundRect">
            <a:avLst>
              <a:gd name="adj" fmla="val 1269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191250" y="5215830"/>
            <a:ext cx="5391150" cy="600075"/>
          </a:xfrm>
          <a:prstGeom prst="roundRect">
            <a:avLst>
              <a:gd name="adj" fmla="val 1269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609600" y="5215830"/>
            <a:ext cx="38100" cy="60007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191250" y="5215830"/>
            <a:ext cx="38100" cy="60007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8" name="Picture 7" descr="image.png"/>
          <p:cNvPicPr>
            <a:picLocks noChangeAspect="1"/>
          </p:cNvPicPr>
          <p:nvPr/>
        </p:nvPicPr>
        <p:blipFill>
          <a:blip r:embed="rId1"/>
          <a:stretch>
            <a:fillRect/>
          </a:stretch>
        </p:blipFill>
        <p:spPr>
          <a:xfrm>
            <a:off x="771525" y="1767780"/>
            <a:ext cx="5048250" cy="2952750"/>
          </a:xfrm>
          <a:prstGeom prst="rect">
            <a:avLst/>
          </a:prstGeom>
        </p:spPr>
      </p:pic>
      <p:pic>
        <p:nvPicPr>
          <p:cNvPr id="9" name="Picture 8" descr="image.png"/>
          <p:cNvPicPr>
            <a:picLocks noChangeAspect="1"/>
          </p:cNvPicPr>
          <p:nvPr/>
        </p:nvPicPr>
        <p:blipFill>
          <a:blip r:embed="rId1"/>
          <a:stretch>
            <a:fillRect/>
          </a:stretch>
        </p:blipFill>
        <p:spPr>
          <a:xfrm>
            <a:off x="6372225" y="1767780"/>
            <a:ext cx="5048250" cy="2952750"/>
          </a:xfrm>
          <a:prstGeom prst="rect">
            <a:avLst/>
          </a:prstGeom>
        </p:spPr>
      </p:pic>
      <p:sp>
        <p:nvSpPr>
          <p:cNvPr id="10" name="TextBox 9"/>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3: EDA &amp; DỰNG LƯỚI THỜI GIAN</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Missingness Theo Giờ &amp; Chu Kỳ Sản Lượng Theo Ngày</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857375" y="1520130"/>
            <a:ext cx="3595687" cy="171450"/>
          </a:xfrm>
          <a:prstGeom prst="rect">
            <a:avLst/>
          </a:prstGeom>
          <a:noFill/>
        </p:spPr>
        <p:txBody>
          <a:bodyPr wrap="none" lIns="0" tIns="0" rIns="0" bIns="0" anchor="t">
            <a:spAutoFit/>
          </a:bodyPr>
          <a:lstStyle/>
          <a:p>
            <a:pPr algn="l"/>
            <a:r>
              <a:rPr sz="1050" b="1" i="0" u="none">
                <a:solidFill>
                  <a:srgbClr val="0F172A"/>
                </a:solidFill>
                <a:latin typeface="Times New Roman" panose="02020603050405020304" pitchFamily="18" charset="0"/>
                <a:cs typeface="Times New Roman" panose="02020603050405020304" pitchFamily="18" charset="0"/>
              </a:rPr>
              <a:t>Tỷ Lệ Mất Nhãn Cao Vào Ban Đêm &amp; Sáng Sớm</a:t>
            </a:r>
            <a:endParaRPr sz="1050" b="1" i="0" u="none">
              <a:solidFill>
                <a:srgbClr val="0F172A"/>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7700962" y="1520130"/>
            <a:ext cx="2988468" cy="171450"/>
          </a:xfrm>
          <a:prstGeom prst="rect">
            <a:avLst/>
          </a:prstGeom>
          <a:noFill/>
        </p:spPr>
        <p:txBody>
          <a:bodyPr wrap="none" lIns="0" tIns="0" rIns="0" bIns="0" anchor="t">
            <a:spAutoFit/>
          </a:bodyPr>
          <a:lstStyle/>
          <a:p>
            <a:pPr algn="l"/>
            <a:r>
              <a:rPr sz="1050" b="1" i="0" u="none">
                <a:solidFill>
                  <a:srgbClr val="0F172A"/>
                </a:solidFill>
                <a:latin typeface="Times New Roman" panose="02020603050405020304" pitchFamily="18" charset="0"/>
                <a:cs typeface="Times New Roman" panose="02020603050405020304" pitchFamily="18" charset="0"/>
              </a:rPr>
              <a:t>Chu Kỳ Sản Lượng Trung Bình Theo Giờ</a:t>
            </a:r>
            <a:endParaRPr sz="1050" b="1" i="0" u="none">
              <a:solidFill>
                <a:srgbClr val="0F172A"/>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38200" y="5349180"/>
            <a:ext cx="5067300" cy="333375"/>
          </a:xfrm>
          <a:prstGeom prst="rect">
            <a:avLst/>
          </a:prstGeom>
          <a:noFill/>
        </p:spPr>
        <p:txBody>
          <a:bodyPr wrap="square" lIns="0" tIns="0" rIns="0" bIns="0" anchor="t">
            <a:spAutoFit/>
          </a:bodyPr>
          <a:lstStyle/>
          <a:p>
            <a:pPr algn="l"/>
            <a:r>
              <a:rPr sz="1010" b="1" i="0" u="none">
                <a:solidFill>
                  <a:srgbClr val="334155"/>
                </a:solidFill>
                <a:latin typeface="Times New Roman" panose="02020603050405020304" pitchFamily="18" charset="0"/>
                <a:cs typeface="Times New Roman" panose="02020603050405020304" pitchFamily="18" charset="0"/>
              </a:rPr>
              <a:t>Lập Lưới 15 Phút:</a:t>
            </a:r>
            <a:r>
              <a:rPr sz="1010" b="0" i="0" u="none">
                <a:solidFill>
                  <a:srgbClr val="334155"/>
                </a:solidFill>
                <a:latin typeface="Times New Roman" panose="02020603050405020304" pitchFamily="18" charset="0"/>
                <a:cs typeface="Times New Roman" panose="02020603050405020304" pitchFamily="18" charset="0"/>
              </a:rPr>
              <a:t> Tạo 1.629.399 hàng đều đặn. Thêm 29.792 hàng gap (</a:t>
            </a:r>
            <a:r>
              <a:rPr sz="900" b="0" i="0" u="none">
                <a:solidFill>
                  <a:srgbClr val="334155"/>
                </a:solidFill>
                <a:latin typeface="Times New Roman" panose="02020603050405020304" pitchFamily="18" charset="0"/>
                <a:cs typeface="Times New Roman" panose="02020603050405020304" pitchFamily="18" charset="0"/>
              </a:rPr>
              <a:t>inserted_gap=True</a:t>
            </a:r>
            <a:r>
              <a:rPr sz="1010" b="0" i="0" u="none">
                <a:solidFill>
                  <a:srgbClr val="334155"/>
                </a:solidFill>
                <a:latin typeface="Times New Roman" panose="02020603050405020304" pitchFamily="18" charset="0"/>
                <a:cs typeface="Times New Roman" panose="02020603050405020304" pitchFamily="18" charset="0"/>
              </a:rPr>
              <a:t>) để đảm bảo phép dịch lag chính xác theo thời gian thực.</a:t>
            </a:r>
            <a:endParaRPr sz="1010" b="0" i="0" u="none">
              <a:solidFill>
                <a:srgbClr val="334155"/>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6419850" y="5349180"/>
            <a:ext cx="5067300" cy="323850"/>
          </a:xfrm>
          <a:prstGeom prst="rect">
            <a:avLst/>
          </a:prstGeom>
          <a:noFill/>
        </p:spPr>
        <p:txBody>
          <a:bodyPr wrap="square" lIns="0" tIns="0" rIns="0" bIns="0" anchor="t">
            <a:spAutoFit/>
          </a:bodyPr>
          <a:lstStyle/>
          <a:p>
            <a:pPr algn="l"/>
            <a:r>
              <a:rPr sz="1010" b="1" i="0" u="none">
                <a:solidFill>
                  <a:srgbClr val="334155"/>
                </a:solidFill>
                <a:latin typeface="Times New Roman" panose="02020603050405020304" pitchFamily="18" charset="0"/>
                <a:cs typeface="Times New Roman" panose="02020603050405020304" pitchFamily="18" charset="0"/>
              </a:rPr>
              <a:t>Ghép Weather An Toàn:</a:t>
            </a:r>
            <a:r>
              <a:rPr sz="1010" b="0" i="0" u="none">
                <a:solidFill>
                  <a:srgbClr val="334155"/>
                </a:solidFill>
                <a:latin typeface="Times New Roman" panose="02020603050405020304" pitchFamily="18" charset="0"/>
                <a:cs typeface="Times New Roman" panose="02020603050405020304" pitchFamily="18" charset="0"/>
              </a:rPr>
              <a:t> Ghép dữ liệu thời tiết gần nhất ở quá khứ với tỷ lệ thành công 99,97%, giới hạn tuổi bản ghi để triệt tiêu hoàn toàn Leakage.</a:t>
            </a:r>
            <a:endParaRPr sz="1010" b="0" i="0" u="none">
              <a:solidFill>
                <a:srgbClr val="334155"/>
              </a:solidFill>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2"/>
          <a:stretch>
            <a:fillRect/>
          </a:stretch>
        </p:blipFill>
        <p:spPr>
          <a:xfrm>
            <a:off x="1046997" y="1723590"/>
            <a:ext cx="4649705" cy="3115110"/>
          </a:xfrm>
          <a:prstGeom prst="rect">
            <a:avLst/>
          </a:prstGeom>
        </p:spPr>
      </p:pic>
      <p:pic>
        <p:nvPicPr>
          <p:cNvPr id="19" name="Picture 18"/>
          <p:cNvPicPr>
            <a:picLocks noChangeAspect="1"/>
          </p:cNvPicPr>
          <p:nvPr/>
        </p:nvPicPr>
        <p:blipFill>
          <a:blip r:embed="rId3"/>
          <a:stretch>
            <a:fillRect/>
          </a:stretch>
        </p:blipFill>
        <p:spPr>
          <a:xfrm>
            <a:off x="6457949" y="1767780"/>
            <a:ext cx="4895851" cy="3070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124450"/>
            <a:ext cx="10972800" cy="1276350"/>
          </a:xfrm>
          <a:prstGeom prst="roundRect">
            <a:avLst>
              <a:gd name="adj" fmla="val 597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2095648"/>
            <a:ext cx="2614612" cy="1919882"/>
          </a:xfrm>
          <a:prstGeom prst="roundRect">
            <a:avLst>
              <a:gd name="adj" fmla="val 59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3395662" y="2095648"/>
            <a:ext cx="2614612" cy="1919882"/>
          </a:xfrm>
          <a:prstGeom prst="roundRect">
            <a:avLst>
              <a:gd name="adj" fmla="val 59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181725" y="2095648"/>
            <a:ext cx="2614612" cy="1919882"/>
          </a:xfrm>
          <a:prstGeom prst="roundRect">
            <a:avLst>
              <a:gd name="adj" fmla="val 59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5"/>
          <p:cNvSpPr/>
          <p:nvPr/>
        </p:nvSpPr>
        <p:spPr>
          <a:xfrm>
            <a:off x="8967787" y="2095648"/>
            <a:ext cx="2614612" cy="1919882"/>
          </a:xfrm>
          <a:prstGeom prst="roundRect">
            <a:avLst>
              <a:gd name="adj" fmla="val 59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790575" y="5083277"/>
            <a:ext cx="10610850" cy="971550"/>
          </a:xfrm>
          <a:prstGeom prst="rect">
            <a:avLst/>
          </a:prstGeom>
          <a:noFill/>
        </p:spPr>
        <p:txBody>
          <a:bodyPr wrap="square" lIns="0" tIns="0" rIns="0" bIns="0" anchor="t">
            <a:spAutoFit/>
          </a:bodyPr>
          <a:lstStyle/>
          <a:p>
            <a:pPr algn="l"/>
            <a:r>
              <a:rPr sz="975" b="0" i="0" u="none" dirty="0">
                <a:solidFill>
                  <a:srgbClr val="64748B"/>
                </a:solidFill>
                <a:latin typeface="Times New Roman" panose="02020603050405020304" pitchFamily="18" charset="0"/>
                <a:cs typeface="Times New Roman" panose="02020603050405020304" pitchFamily="18" charset="0"/>
              </a:rPr>
              <a:t># Snippet: </a:t>
            </a:r>
            <a:r>
              <a:rPr sz="975" b="0" i="0" u="none" dirty="0" err="1">
                <a:solidFill>
                  <a:srgbClr val="64748B"/>
                </a:solidFill>
                <a:latin typeface="Times New Roman" panose="02020603050405020304" pitchFamily="18" charset="0"/>
                <a:cs typeface="Times New Roman" panose="02020603050405020304" pitchFamily="18" charset="0"/>
              </a:rPr>
              <a:t>Tạo</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đặc</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trưng</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góc</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mặt</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trời</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gần</a:t>
            </a:r>
            <a:r>
              <a:rPr sz="975" b="0" i="0" u="none" dirty="0">
                <a:solidFill>
                  <a:srgbClr val="64748B"/>
                </a:solidFill>
                <a:latin typeface="Times New Roman" panose="02020603050405020304" pitchFamily="18" charset="0"/>
                <a:cs typeface="Times New Roman" panose="02020603050405020304" pitchFamily="18" charset="0"/>
              </a:rPr>
              <a:t> </a:t>
            </a:r>
            <a:r>
              <a:rPr sz="975" b="0" i="0" u="none" dirty="0" err="1">
                <a:solidFill>
                  <a:srgbClr val="64748B"/>
                </a:solidFill>
                <a:latin typeface="Times New Roman" panose="02020603050405020304" pitchFamily="18" charset="0"/>
                <a:cs typeface="Times New Roman" panose="02020603050405020304" pitchFamily="18" charset="0"/>
              </a:rPr>
              <a:t>đúng</a:t>
            </a:r>
            <a:r>
              <a:rPr sz="975" b="0" i="0" u="none" dirty="0">
                <a:solidFill>
                  <a:srgbClr val="64748B"/>
                </a:solidFill>
                <a:latin typeface="Times New Roman" panose="02020603050405020304" pitchFamily="18" charset="0"/>
                <a:cs typeface="Times New Roman" panose="02020603050405020304" pitchFamily="18" charset="0"/>
              </a:rPr>
              <a:t> (Solar Elevation)</a:t>
            </a:r>
            <a:r>
              <a:rPr dirty="0">
                <a:latin typeface="Times New Roman" panose="02020603050405020304" pitchFamily="18" charset="0"/>
                <a:cs typeface="Times New Roman" panose="02020603050405020304" pitchFamily="18" charset="0"/>
              </a:rPr>
              <a:t>
</a:t>
            </a:r>
            <a:r>
              <a:rPr sz="975" b="0" i="0" u="none" dirty="0">
                <a:solidFill>
                  <a:srgbClr val="F43F5E"/>
                </a:solidFill>
                <a:latin typeface="Times New Roman" panose="02020603050405020304" pitchFamily="18" charset="0"/>
                <a:cs typeface="Times New Roman" panose="02020603050405020304" pitchFamily="18" charset="0"/>
              </a:rPr>
              <a:t>def</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38BDF8"/>
                </a:solidFill>
                <a:latin typeface="Times New Roman" panose="02020603050405020304" pitchFamily="18" charset="0"/>
                <a:cs typeface="Times New Roman" panose="02020603050405020304" pitchFamily="18" charset="0"/>
              </a:rPr>
              <a:t>compute_solar_elevation</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lat</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lon</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dt_utc</a:t>
            </a:r>
            <a:r>
              <a:rPr sz="975" b="0" i="0" u="none" dirty="0">
                <a:solidFill>
                  <a:srgbClr val="E2E8F0"/>
                </a:solidFill>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
</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day_of_year</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dt_utc.dayofyear</a:t>
            </a:r>
            <a:r>
              <a:rPr sz="975" b="0" i="0" u="none" dirty="0">
                <a:solidFill>
                  <a:srgbClr val="E2E8F0"/>
                </a:solidFill>
                <a:latin typeface="Times New Roman" panose="02020603050405020304" pitchFamily="18" charset="0"/>
                <a:cs typeface="Times New Roman" panose="02020603050405020304" pitchFamily="18" charset="0"/>
              </a:rPr>
              <a:t>; declination = </a:t>
            </a:r>
            <a:r>
              <a:rPr sz="975" b="0" i="0" u="none" dirty="0">
                <a:solidFill>
                  <a:srgbClr val="F59E0B"/>
                </a:solidFill>
                <a:latin typeface="Times New Roman" panose="02020603050405020304" pitchFamily="18" charset="0"/>
                <a:cs typeface="Times New Roman" panose="02020603050405020304" pitchFamily="18" charset="0"/>
              </a:rPr>
              <a:t>23.45</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np.sin</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a:solidFill>
                  <a:srgbClr val="F59E0B"/>
                </a:solidFill>
                <a:latin typeface="Times New Roman" panose="02020603050405020304" pitchFamily="18" charset="0"/>
                <a:cs typeface="Times New Roman" panose="02020603050405020304" pitchFamily="18" charset="0"/>
              </a:rPr>
              <a:t>360</a:t>
            </a:r>
            <a:r>
              <a:rPr sz="975" b="0" i="0" u="none" dirty="0">
                <a:solidFill>
                  <a:srgbClr val="E2E8F0"/>
                </a:solidFill>
                <a:latin typeface="Times New Roman" panose="02020603050405020304" pitchFamily="18" charset="0"/>
                <a:cs typeface="Times New Roman" panose="02020603050405020304" pitchFamily="18" charset="0"/>
              </a:rPr>
              <a:t>/365 * (</a:t>
            </a:r>
            <a:r>
              <a:rPr sz="975" b="0" i="0" u="none" dirty="0" err="1">
                <a:solidFill>
                  <a:srgbClr val="E2E8F0"/>
                </a:solidFill>
                <a:latin typeface="Times New Roman" panose="02020603050405020304" pitchFamily="18" charset="0"/>
                <a:cs typeface="Times New Roman" panose="02020603050405020304" pitchFamily="18" charset="0"/>
              </a:rPr>
              <a:t>day_of_year</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a:solidFill>
                  <a:srgbClr val="F59E0B"/>
                </a:solidFill>
                <a:latin typeface="Times New Roman" panose="02020603050405020304" pitchFamily="18" charset="0"/>
                <a:cs typeface="Times New Roman" panose="02020603050405020304" pitchFamily="18" charset="0"/>
              </a:rPr>
              <a:t>81</a:t>
            </a:r>
            <a:r>
              <a:rPr sz="975" b="0" i="0" u="none" dirty="0">
                <a:solidFill>
                  <a:srgbClr val="E2E8F0"/>
                </a:solidFill>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
</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solar_time_offset</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a:solidFill>
                  <a:srgbClr val="F59E0B"/>
                </a:solidFill>
                <a:latin typeface="Times New Roman" panose="02020603050405020304" pitchFamily="18" charset="0"/>
                <a:cs typeface="Times New Roman" panose="02020603050405020304" pitchFamily="18" charset="0"/>
              </a:rPr>
              <a:t>4</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lon</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hour_angle</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dt_utc.hour</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a:solidFill>
                  <a:srgbClr val="F59E0B"/>
                </a:solidFill>
                <a:latin typeface="Times New Roman" panose="02020603050405020304" pitchFamily="18" charset="0"/>
                <a:cs typeface="Times New Roman" panose="02020603050405020304" pitchFamily="18" charset="0"/>
              </a:rPr>
              <a:t>60</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dt_utc.minute</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solar_time_offset</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a:solidFill>
                  <a:srgbClr val="F59E0B"/>
                </a:solidFill>
                <a:latin typeface="Times New Roman" panose="02020603050405020304" pitchFamily="18" charset="0"/>
                <a:cs typeface="Times New Roman" panose="02020603050405020304" pitchFamily="18" charset="0"/>
              </a:rPr>
              <a:t>720</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a:solidFill>
                  <a:srgbClr val="F59E0B"/>
                </a:solidFill>
                <a:latin typeface="Times New Roman" panose="02020603050405020304" pitchFamily="18" charset="0"/>
                <a:cs typeface="Times New Roman" panose="02020603050405020304" pitchFamily="18" charset="0"/>
              </a:rPr>
              <a:t>4</a:t>
            </a:r>
            <a:r>
              <a:rPr dirty="0">
                <a:latin typeface="Times New Roman" panose="02020603050405020304" pitchFamily="18" charset="0"/>
                <a:cs typeface="Times New Roman" panose="02020603050405020304" pitchFamily="18" charset="0"/>
              </a:rPr>
              <a:t>
</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a:solidFill>
                  <a:srgbClr val="F43F5E"/>
                </a:solidFill>
                <a:latin typeface="Times New Roman" panose="02020603050405020304" pitchFamily="18" charset="0"/>
                <a:cs typeface="Times New Roman" panose="02020603050405020304" pitchFamily="18" charset="0"/>
              </a:rPr>
              <a:t>return</a:t>
            </a:r>
            <a:r>
              <a:rPr sz="975" b="0" i="0" u="none" dirty="0">
                <a:solidFill>
                  <a:srgbClr val="E2E8F0"/>
                </a:solidFill>
                <a:latin typeface="Times New Roman" panose="02020603050405020304" pitchFamily="18" charset="0"/>
                <a:cs typeface="Times New Roman" panose="02020603050405020304" pitchFamily="18" charset="0"/>
              </a:rPr>
              <a:t> </a:t>
            </a:r>
            <a:r>
              <a:rPr sz="975" b="0" i="0" u="none" dirty="0" err="1">
                <a:solidFill>
                  <a:srgbClr val="E2E8F0"/>
                </a:solidFill>
                <a:latin typeface="Times New Roman" panose="02020603050405020304" pitchFamily="18" charset="0"/>
                <a:cs typeface="Times New Roman" panose="02020603050405020304" pitchFamily="18" charset="0"/>
              </a:rPr>
              <a:t>np.arcsin</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np.sin</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lat</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np.sin</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(declination)) + </a:t>
            </a:r>
            <a:r>
              <a:rPr sz="975" b="0" i="0" u="none" dirty="0" err="1">
                <a:solidFill>
                  <a:srgbClr val="E2E8F0"/>
                </a:solidFill>
                <a:latin typeface="Times New Roman" panose="02020603050405020304" pitchFamily="18" charset="0"/>
                <a:cs typeface="Times New Roman" panose="02020603050405020304" pitchFamily="18" charset="0"/>
              </a:rPr>
              <a:t>np.cos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lat</a:t>
            </a:r>
            <a:r>
              <a:rPr sz="975" b="0" i="0" u="none" dirty="0">
                <a:solidFill>
                  <a:srgbClr val="E2E8F0"/>
                </a:solidFill>
                <a:latin typeface="Times New Roman" panose="02020603050405020304" pitchFamily="18" charset="0"/>
                <a:cs typeface="Times New Roman" panose="02020603050405020304" pitchFamily="18" charset="0"/>
              </a:rPr>
              <a:t>)) * </a:t>
            </a:r>
            <a:r>
              <a:rPr sz="975" b="0" i="0" u="none" dirty="0" err="1">
                <a:solidFill>
                  <a:srgbClr val="E2E8F0"/>
                </a:solidFill>
                <a:latin typeface="Times New Roman" panose="02020603050405020304" pitchFamily="18" charset="0"/>
                <a:cs typeface="Times New Roman" panose="02020603050405020304" pitchFamily="18" charset="0"/>
              </a:rPr>
              <a:t>np.cos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(declination)) * </a:t>
            </a:r>
            <a:r>
              <a:rPr sz="975" b="0" i="0" u="none" dirty="0" err="1">
                <a:solidFill>
                  <a:srgbClr val="E2E8F0"/>
                </a:solidFill>
                <a:latin typeface="Times New Roman" panose="02020603050405020304" pitchFamily="18" charset="0"/>
                <a:cs typeface="Times New Roman" panose="02020603050405020304" pitchFamily="18" charset="0"/>
              </a:rPr>
              <a:t>np.cos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np.radians</a:t>
            </a:r>
            <a:r>
              <a:rPr sz="975" b="0" i="0" u="none" dirty="0">
                <a:solidFill>
                  <a:srgbClr val="E2E8F0"/>
                </a:solidFill>
                <a:latin typeface="Times New Roman" panose="02020603050405020304" pitchFamily="18" charset="0"/>
                <a:cs typeface="Times New Roman" panose="02020603050405020304" pitchFamily="18" charset="0"/>
              </a:rPr>
              <a:t>(</a:t>
            </a:r>
            <a:r>
              <a:rPr sz="975" b="0" i="0" u="none" dirty="0" err="1">
                <a:solidFill>
                  <a:srgbClr val="E2E8F0"/>
                </a:solidFill>
                <a:latin typeface="Times New Roman" panose="02020603050405020304" pitchFamily="18" charset="0"/>
                <a:cs typeface="Times New Roman" panose="02020603050405020304" pitchFamily="18" charset="0"/>
              </a:rPr>
              <a:t>hour_angle</a:t>
            </a:r>
            <a:r>
              <a:rPr sz="975" b="0" i="0" u="none" dirty="0">
                <a:solidFill>
                  <a:srgbClr val="E2E8F0"/>
                </a:solidFill>
                <a:latin typeface="Times New Roman" panose="02020603050405020304" pitchFamily="18" charset="0"/>
                <a:cs typeface="Times New Roman" panose="02020603050405020304" pitchFamily="18" charset="0"/>
              </a:rPr>
              <a:t>)))</a:t>
            </a:r>
            <a:endParaRPr sz="975" b="0" i="0" u="none" dirty="0">
              <a:solidFill>
                <a:srgbClr val="E2E8F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3: TIỀN XỬ LÝ &amp; ĐẶC TRƯNG</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Thiết Kế 4 Nhóm Đặc Trưng Đầu Vào Cho Mô Hình</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809625" y="2295673"/>
            <a:ext cx="2768203" cy="171450"/>
          </a:xfrm>
          <a:prstGeom prst="rect">
            <a:avLst/>
          </a:prstGeom>
          <a:noFill/>
        </p:spPr>
        <p:txBody>
          <a:bodyPr wrap="none" lIns="0" tIns="0" rIns="0" bIns="0" anchor="t">
            <a:spAutoFit/>
          </a:bodyPr>
          <a:lstStyle/>
          <a:p>
            <a:pPr algn="l"/>
            <a:r>
              <a:rPr sz="1050" b="1" i="0" u="none">
                <a:solidFill>
                  <a:srgbClr val="0284C7"/>
                </a:solidFill>
                <a:latin typeface="Times New Roman" panose="02020603050405020304" pitchFamily="18" charset="0"/>
                <a:cs typeface="Times New Roman" panose="02020603050405020304" pitchFamily="18" charset="0"/>
              </a:rPr>
              <a:t>01. LỊCH SỬ (LAG)</a:t>
            </a:r>
            <a:endParaRPr sz="1050" b="1" i="0" u="none">
              <a:solidFill>
                <a:srgbClr val="0284C7"/>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3595687" y="2295673"/>
            <a:ext cx="2768203" cy="171450"/>
          </a:xfrm>
          <a:prstGeom prst="rect">
            <a:avLst/>
          </a:prstGeom>
          <a:noFill/>
        </p:spPr>
        <p:txBody>
          <a:bodyPr wrap="none" lIns="0" tIns="0" rIns="0" bIns="0" anchor="t">
            <a:spAutoFit/>
          </a:bodyPr>
          <a:lstStyle/>
          <a:p>
            <a:pPr algn="l"/>
            <a:r>
              <a:rPr sz="1050" b="1" i="0" u="none">
                <a:solidFill>
                  <a:srgbClr val="0D9488"/>
                </a:solidFill>
                <a:latin typeface="Times New Roman" panose="02020603050405020304" pitchFamily="18" charset="0"/>
                <a:cs typeface="Times New Roman" panose="02020603050405020304" pitchFamily="18" charset="0"/>
              </a:rPr>
              <a:t>02. ROLLING MEAN</a:t>
            </a:r>
            <a:endParaRPr sz="1050" b="1" i="0" u="none">
              <a:solidFill>
                <a:srgbClr val="0D9488"/>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6381750" y="2295673"/>
            <a:ext cx="2768203" cy="171450"/>
          </a:xfrm>
          <a:prstGeom prst="rect">
            <a:avLst/>
          </a:prstGeom>
          <a:noFill/>
        </p:spPr>
        <p:txBody>
          <a:bodyPr wrap="none" lIns="0" tIns="0" rIns="0" bIns="0" anchor="t">
            <a:spAutoFit/>
          </a:bodyPr>
          <a:lstStyle/>
          <a:p>
            <a:pPr algn="l"/>
            <a:r>
              <a:rPr sz="1050" b="1" i="0" u="none">
                <a:solidFill>
                  <a:srgbClr val="6366F1"/>
                </a:solidFill>
                <a:latin typeface="Times New Roman" panose="02020603050405020304" pitchFamily="18" charset="0"/>
                <a:cs typeface="Times New Roman" panose="02020603050405020304" pitchFamily="18" charset="0"/>
              </a:rPr>
              <a:t>03. THỜI TIẾT</a:t>
            </a:r>
            <a:endParaRPr sz="1050" b="1" i="0" u="none">
              <a:solidFill>
                <a:srgbClr val="6366F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9167812" y="2295673"/>
            <a:ext cx="2768203" cy="171450"/>
          </a:xfrm>
          <a:prstGeom prst="rect">
            <a:avLst/>
          </a:prstGeom>
          <a:noFill/>
        </p:spPr>
        <p:txBody>
          <a:bodyPr wrap="none" lIns="0" tIns="0" rIns="0" bIns="0" anchor="t">
            <a:spAutoFit/>
          </a:bodyPr>
          <a:lstStyle/>
          <a:p>
            <a:pPr algn="l"/>
            <a:r>
              <a:rPr sz="1050" b="1" i="0" u="none">
                <a:solidFill>
                  <a:srgbClr val="D97706"/>
                </a:solidFill>
                <a:latin typeface="Times New Roman" panose="02020603050405020304" pitchFamily="18" charset="0"/>
                <a:cs typeface="Times New Roman" panose="02020603050405020304" pitchFamily="18" charset="0"/>
              </a:rPr>
              <a:t>04. LỊCH &amp; THIÊN VĂN</a:t>
            </a:r>
            <a:endParaRPr sz="1050" b="1" i="0" u="none">
              <a:solidFill>
                <a:srgbClr val="D97706"/>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09625" y="2543323"/>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energy_lag_1 (15m)</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809625" y="2758529"/>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energy_lag_2 (30m)</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809625" y="2973734"/>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energy_lag_4 (1h)</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809625" y="3188940"/>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energy_lag_8, 12</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809625" y="3404145"/>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energy_lag_96 (24h)</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3595687" y="2543323"/>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roll_mean_4 (1h)</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3595687" y="2758529"/>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roll_mean_8 (2h)</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3595687" y="2973734"/>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roll_count_4</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3595687" y="3188940"/>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roll_count_8</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595687" y="3404145"/>
            <a:ext cx="2309812" cy="411360"/>
          </a:xfrm>
          <a:prstGeom prst="rect">
            <a:avLst/>
          </a:prstGeom>
          <a:noFill/>
        </p:spPr>
        <p:txBody>
          <a:bodyPr wrap="square" lIns="0" tIns="0" rIns="0" bIns="0" anchor="t">
            <a:spAutoFit/>
          </a:bodyPr>
          <a:lstStyle/>
          <a:p>
            <a:pPr algn="l">
              <a:lnSpc>
                <a:spcPts val="1620"/>
              </a:lnSpc>
            </a:pPr>
            <a:r>
              <a:rPr sz="1010" b="0" i="1" u="none">
                <a:solidFill>
                  <a:srgbClr val="475569"/>
                </a:solidFill>
                <a:latin typeface="Times New Roman" panose="02020603050405020304" pitchFamily="18" charset="0"/>
                <a:cs typeface="Times New Roman" panose="02020603050405020304" pitchFamily="18" charset="0"/>
              </a:rPr>
              <a:t>(Đo mức sản lượng &amp; độ tin cậy cửa sổ)</a:t>
            </a:r>
            <a:endParaRPr sz="1010" b="0" i="1" u="none">
              <a:solidFill>
                <a:srgbClr val="475569"/>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6381750" y="2543323"/>
            <a:ext cx="2768203" cy="205680"/>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Air / Apparent Temp</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6381750" y="2749004"/>
            <a:ext cx="2768203" cy="205680"/>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DewPoint Temp</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6381750" y="2954684"/>
            <a:ext cx="2768203" cy="205680"/>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Relative Humidity</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6381750" y="3160365"/>
            <a:ext cx="2768203" cy="205680"/>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Wind Speed &amp; Direction</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6381750" y="3366045"/>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Wind_sin / Wind_cos</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29" name="TextBox 28"/>
          <p:cNvSpPr txBox="1"/>
          <p:nvPr/>
        </p:nvSpPr>
        <p:spPr>
          <a:xfrm>
            <a:off x="9167812" y="2543323"/>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clock_sin / clock_cos</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30" name="TextBox 29"/>
          <p:cNvSpPr txBox="1"/>
          <p:nvPr/>
        </p:nvSpPr>
        <p:spPr>
          <a:xfrm>
            <a:off x="9167812" y="2758529"/>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season_sin / season_cos</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31" name="TextBox 30"/>
          <p:cNvSpPr txBox="1"/>
          <p:nvPr/>
        </p:nvSpPr>
        <p:spPr>
          <a:xfrm>
            <a:off x="9167812" y="2973734"/>
            <a:ext cx="2768203" cy="215205"/>
          </a:xfrm>
          <a:prstGeom prst="rect">
            <a:avLst/>
          </a:prstGeom>
          <a:noFill/>
        </p:spPr>
        <p:txBody>
          <a:bodyPr wrap="none" lIns="0" tIns="0" rIns="0" bIns="0" anchor="t">
            <a:spAutoFit/>
          </a:bodyPr>
          <a:lstStyle/>
          <a:p>
            <a:pPr algn="l">
              <a:lnSpc>
                <a:spcPts val="1620"/>
              </a:lnSpc>
            </a:pPr>
            <a:r>
              <a:rPr sz="1010" b="0" i="0" u="none">
                <a:solidFill>
                  <a:srgbClr val="475569"/>
                </a:solidFill>
                <a:latin typeface="Times New Roman" panose="02020603050405020304" pitchFamily="18" charset="0"/>
                <a:cs typeface="Times New Roman" panose="02020603050405020304" pitchFamily="18" charset="0"/>
              </a:rPr>
              <a:t>• solar_elevation_approx</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9167812" y="3188940"/>
            <a:ext cx="2309812" cy="411360"/>
          </a:xfrm>
          <a:prstGeom prst="rect">
            <a:avLst/>
          </a:prstGeom>
          <a:noFill/>
        </p:spPr>
        <p:txBody>
          <a:bodyPr wrap="square" lIns="0" tIns="0" rIns="0" bIns="0" anchor="t">
            <a:spAutoFit/>
          </a:bodyPr>
          <a:lstStyle/>
          <a:p>
            <a:pPr algn="l">
              <a:lnSpc>
                <a:spcPts val="1620"/>
              </a:lnSpc>
            </a:pPr>
            <a:r>
              <a:rPr sz="1010" b="0" i="1" u="none">
                <a:solidFill>
                  <a:srgbClr val="475569"/>
                </a:solidFill>
                <a:latin typeface="Times New Roman" panose="02020603050405020304" pitchFamily="18" charset="0"/>
                <a:cs typeface="Times New Roman" panose="02020603050405020304" pitchFamily="18" charset="0"/>
              </a:rPr>
              <a:t>(Góc cao mặt trời tính từ Lat/Lon &amp; thời gian)</a:t>
            </a:r>
            <a:endParaRPr sz="1010" b="0" i="1" u="none">
              <a:solidFill>
                <a:srgbClr val="47556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048250"/>
            <a:ext cx="10972800" cy="1352550"/>
          </a:xfrm>
          <a:prstGeom prst="roundRect">
            <a:avLst>
              <a:gd name="adj" fmla="val 704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2336452"/>
            <a:ext cx="3505200" cy="1362075"/>
          </a:xfrm>
          <a:prstGeom prst="roundRect">
            <a:avLst>
              <a:gd name="adj" fmla="val 699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4343400" y="2417415"/>
            <a:ext cx="3505200" cy="1200150"/>
          </a:xfrm>
          <a:prstGeom prst="roundRect">
            <a:avLst>
              <a:gd name="adj" fmla="val 793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8077200" y="2422177"/>
            <a:ext cx="3505200" cy="1190625"/>
          </a:xfrm>
          <a:prstGeom prst="roundRect">
            <a:avLst>
              <a:gd name="adj" fmla="val 800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619125" y="5057775"/>
            <a:ext cx="10953750" cy="36195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19125" y="6067425"/>
            <a:ext cx="10953750" cy="3238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ectangle 7"/>
          <p:cNvSpPr/>
          <p:nvPr/>
        </p:nvSpPr>
        <p:spPr>
          <a:xfrm>
            <a:off x="619125" y="6067425"/>
            <a:ext cx="10953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4: MÔ HÌNH VÀ THIẾT KẾ THÍ NGHIỆM</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Quy Trình Chia Tập Thời Gian &amp; Tuning Random Forest</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809625" y="5153025"/>
            <a:ext cx="10668000" cy="171450"/>
          </a:xfrm>
          <a:prstGeom prst="rect">
            <a:avLst/>
          </a:prstGeom>
          <a:noFill/>
        </p:spPr>
        <p:txBody>
          <a:bodyPr wrap="square" lIns="0" tIns="0" rIns="0" bIns="0" anchor="t">
            <a:spAutoFit/>
          </a:bodyPr>
          <a:lstStyle/>
          <a:p>
            <a:pPr algn="l"/>
            <a:r>
              <a:rPr sz="1050" b="1" i="0" u="none">
                <a:solidFill>
                  <a:srgbClr val="FFFFFF"/>
                </a:solidFill>
                <a:latin typeface="Times New Roman" panose="02020603050405020304" pitchFamily="18" charset="0"/>
                <a:cs typeface="Times New Roman" panose="02020603050405020304" pitchFamily="18" charset="0"/>
              </a:rPr>
              <a:t>Không Gian Tham Số Random Forest Đã Tuning Bằng TimeSeriesSplit CV (3 Folds)</a:t>
            </a:r>
            <a:endParaRPr sz="1050" b="1" i="0" u="none">
              <a:solidFill>
                <a:srgbClr val="FFFFFF"/>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279796" y="6143625"/>
            <a:ext cx="12751593" cy="171450"/>
          </a:xfrm>
          <a:prstGeom prst="rect">
            <a:avLst/>
          </a:prstGeom>
          <a:noFill/>
        </p:spPr>
        <p:txBody>
          <a:bodyPr wrap="square" lIns="0" tIns="0" rIns="0" bIns="0" anchor="t">
            <a:spAutoFit/>
          </a:bodyPr>
          <a:lstStyle/>
          <a:p>
            <a:pPr algn="ctr"/>
            <a:r>
              <a:rPr sz="975" b="1" i="0" u="none">
                <a:solidFill>
                  <a:srgbClr val="0F172A"/>
                </a:solidFill>
                <a:latin typeface="Times New Roman" panose="02020603050405020304" pitchFamily="18" charset="0"/>
                <a:cs typeface="Times New Roman" panose="02020603050405020304" pitchFamily="18" charset="0"/>
              </a:rPr>
              <a:t>Cấu hình tốt nhất được khóa:</a:t>
            </a:r>
            <a:r>
              <a:rPr sz="975" b="0" i="0" u="none">
                <a:solidFill>
                  <a:srgbClr val="0F172A"/>
                </a:solidFill>
                <a:latin typeface="Times New Roman" panose="02020603050405020304" pitchFamily="18" charset="0"/>
                <a:cs typeface="Times New Roman" panose="02020603050405020304" pitchFamily="18" charset="0"/>
              </a:rPr>
              <a:t> </a:t>
            </a:r>
            <a:r>
              <a:rPr sz="975" b="1" i="0" u="none">
                <a:solidFill>
                  <a:srgbClr val="0284C7"/>
                </a:solidFill>
                <a:latin typeface="Times New Roman" panose="02020603050405020304" pitchFamily="18" charset="0"/>
                <a:cs typeface="Times New Roman" panose="02020603050405020304" pitchFamily="18" charset="0"/>
              </a:rPr>
              <a:t>n_estimators=200, max_depth=12, min_samples_leaf=5, max_features=0.8</a:t>
            </a:r>
            <a:r>
              <a:rPr sz="975" b="0" i="0" u="none">
                <a:solidFill>
                  <a:srgbClr val="0F172A"/>
                </a:solidFill>
                <a:latin typeface="Times New Roman" panose="02020603050405020304" pitchFamily="18" charset="0"/>
                <a:cs typeface="Times New Roman" panose="02020603050405020304" pitchFamily="18" charset="0"/>
              </a:rPr>
              <a:t> (Pooled MAE Train CV: 2.108)</a:t>
            </a:r>
            <a:endParaRPr sz="975" b="0" i="0" u="none">
              <a:solidFill>
                <a:srgbClr val="0F172A"/>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09625" y="2536477"/>
            <a:ext cx="3881437" cy="200025"/>
          </a:xfrm>
          <a:prstGeom prst="rect">
            <a:avLst/>
          </a:prstGeom>
          <a:noFill/>
        </p:spPr>
        <p:txBody>
          <a:bodyPr wrap="none" lIns="0" tIns="0" rIns="0" bIns="0" anchor="t">
            <a:spAutoFit/>
          </a:bodyPr>
          <a:lstStyle/>
          <a:p>
            <a:pPr algn="l"/>
            <a:r>
              <a:rPr sz="1200" b="1" i="0" u="none">
                <a:solidFill>
                  <a:srgbClr val="0F172A"/>
                </a:solidFill>
                <a:latin typeface="Times New Roman" panose="02020603050405020304" pitchFamily="18" charset="0"/>
                <a:cs typeface="Times New Roman" panose="02020603050405020304" pitchFamily="18" charset="0"/>
              </a:rPr>
              <a:t>1. Chia Thời Gian (70 / 15 / 15)</a:t>
            </a:r>
            <a:endParaRPr sz="1200" b="1" i="0" u="none">
              <a:solidFill>
                <a:srgbClr val="0F172A"/>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09625" y="2812702"/>
            <a:ext cx="3200400" cy="685800"/>
          </a:xfrm>
          <a:prstGeom prst="rect">
            <a:avLst/>
          </a:prstGeom>
          <a:noFill/>
        </p:spPr>
        <p:txBody>
          <a:bodyPr wrap="square" lIns="0" tIns="0" rIns="0" bIns="0" anchor="t">
            <a:spAutoFit/>
          </a:bodyPr>
          <a:lstStyle/>
          <a:p>
            <a:pPr algn="l"/>
            <a:r>
              <a:rPr sz="1050" b="0" i="0" u="none">
                <a:solidFill>
                  <a:srgbClr val="475569"/>
                </a:solidFill>
                <a:latin typeface="Times New Roman" panose="02020603050405020304" pitchFamily="18" charset="0"/>
                <a:cs typeface="Times New Roman" panose="02020603050405020304" pitchFamily="18" charset="0"/>
              </a:rPr>
              <a:t>• </a:t>
            </a:r>
            <a:r>
              <a:rPr sz="1050" b="1" i="0" u="none">
                <a:solidFill>
                  <a:srgbClr val="475569"/>
                </a:solidFill>
                <a:latin typeface="Times New Roman" panose="02020603050405020304" pitchFamily="18" charset="0"/>
                <a:cs typeface="Times New Roman" panose="02020603050405020304" pitchFamily="18" charset="0"/>
              </a:rPr>
              <a:t>Train:</a:t>
            </a:r>
            <a:r>
              <a:rPr sz="1050" b="0" i="0" u="none">
                <a:solidFill>
                  <a:srgbClr val="475569"/>
                </a:solidFill>
                <a:latin typeface="Times New Roman" panose="02020603050405020304" pitchFamily="18" charset="0"/>
                <a:cs typeface="Times New Roman" panose="02020603050405020304" pitchFamily="18" charset="0"/>
              </a:rPr>
              <a:t> Fit Imputer, fit Model, CV tuning nội bộ</a:t>
            </a:r>
            <a:r>
              <a:rPr>
                <a:latin typeface="Times New Roman" panose="02020603050405020304" pitchFamily="18" charset="0"/>
                <a:cs typeface="Times New Roman" panose="02020603050405020304" pitchFamily="18" charset="0"/>
              </a:rPr>
              <a:t>
</a:t>
            </a:r>
            <a:r>
              <a:rPr sz="1050" b="0" i="0" u="none">
                <a:solidFill>
                  <a:srgbClr val="475569"/>
                </a:solidFill>
                <a:latin typeface="Times New Roman" panose="02020603050405020304" pitchFamily="18" charset="0"/>
                <a:cs typeface="Times New Roman" panose="02020603050405020304" pitchFamily="18" charset="0"/>
              </a:rPr>
              <a:t> • </a:t>
            </a:r>
            <a:r>
              <a:rPr sz="1050" b="1" i="0" u="none">
                <a:solidFill>
                  <a:srgbClr val="475569"/>
                </a:solidFill>
                <a:latin typeface="Times New Roman" panose="02020603050405020304" pitchFamily="18" charset="0"/>
                <a:cs typeface="Times New Roman" panose="02020603050405020304" pitchFamily="18" charset="0"/>
              </a:rPr>
              <a:t>Validation:</a:t>
            </a:r>
            <a:r>
              <a:rPr sz="1050" b="0" i="0" u="none">
                <a:solidFill>
                  <a:srgbClr val="475569"/>
                </a:solidFill>
                <a:latin typeface="Times New Roman" panose="02020603050405020304" pitchFamily="18" charset="0"/>
                <a:cs typeface="Times New Roman" panose="02020603050405020304" pitchFamily="18" charset="0"/>
              </a:rPr>
              <a:t> So sánh Candidate/Ablation, chọn Winner theo site</a:t>
            </a:r>
            <a:r>
              <a:rPr>
                <a:latin typeface="Times New Roman" panose="02020603050405020304" pitchFamily="18" charset="0"/>
                <a:cs typeface="Times New Roman" panose="02020603050405020304" pitchFamily="18" charset="0"/>
              </a:rPr>
              <a:t>
</a:t>
            </a:r>
            <a:r>
              <a:rPr sz="1050" b="0" i="0" u="none">
                <a:solidFill>
                  <a:srgbClr val="475569"/>
                </a:solidFill>
                <a:latin typeface="Times New Roman" panose="02020603050405020304" pitchFamily="18" charset="0"/>
                <a:cs typeface="Times New Roman" panose="02020603050405020304" pitchFamily="18" charset="0"/>
              </a:rPr>
              <a:t> • </a:t>
            </a:r>
            <a:r>
              <a:rPr sz="1050" b="1" i="0" u="none">
                <a:solidFill>
                  <a:srgbClr val="475569"/>
                </a:solidFill>
                <a:latin typeface="Times New Roman" panose="02020603050405020304" pitchFamily="18" charset="0"/>
                <a:cs typeface="Times New Roman" panose="02020603050405020304" pitchFamily="18" charset="0"/>
              </a:rPr>
              <a:t>Test:</a:t>
            </a:r>
            <a:r>
              <a:rPr sz="1050" b="0" i="0" u="none">
                <a:solidFill>
                  <a:srgbClr val="475569"/>
                </a:solidFill>
                <a:latin typeface="Times New Roman" panose="02020603050405020304" pitchFamily="18" charset="0"/>
                <a:cs typeface="Times New Roman" panose="02020603050405020304" pitchFamily="18" charset="0"/>
              </a:rPr>
              <a:t> Đánh giá cuối cùng đúng 1 lần duy nhất</a:t>
            </a:r>
            <a:endParaRPr sz="1050" b="0" i="0" u="none">
              <a:solidFill>
                <a:srgbClr val="475569"/>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4543425" y="2617440"/>
            <a:ext cx="3881437" cy="200025"/>
          </a:xfrm>
          <a:prstGeom prst="rect">
            <a:avLst/>
          </a:prstGeom>
          <a:noFill/>
        </p:spPr>
        <p:txBody>
          <a:bodyPr wrap="none" lIns="0" tIns="0" rIns="0" bIns="0" anchor="t">
            <a:spAutoFit/>
          </a:bodyPr>
          <a:lstStyle/>
          <a:p>
            <a:pPr algn="l"/>
            <a:r>
              <a:rPr sz="1200" b="1" i="0" u="none">
                <a:solidFill>
                  <a:srgbClr val="0F172A"/>
                </a:solidFill>
                <a:latin typeface="Times New Roman" panose="02020603050405020304" pitchFamily="18" charset="0"/>
                <a:cs typeface="Times New Roman" panose="02020603050405020304" pitchFamily="18" charset="0"/>
              </a:rPr>
              <a:t>2. Baseline Đối Chứng</a:t>
            </a:r>
            <a:endParaRPr sz="1200" b="1" i="0" u="none">
              <a:solidFill>
                <a:srgbClr val="0F172A"/>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4543425" y="2893665"/>
            <a:ext cx="3200400" cy="523875"/>
          </a:xfrm>
          <a:prstGeom prst="rect">
            <a:avLst/>
          </a:prstGeom>
          <a:noFill/>
        </p:spPr>
        <p:txBody>
          <a:bodyPr wrap="square" lIns="0" tIns="0" rIns="0" bIns="0" anchor="t">
            <a:spAutoFit/>
          </a:bodyPr>
          <a:lstStyle/>
          <a:p>
            <a:pPr algn="l"/>
            <a:r>
              <a:rPr sz="1050" b="0" i="0" u="none">
                <a:solidFill>
                  <a:srgbClr val="475569"/>
                </a:solidFill>
                <a:latin typeface="Times New Roman" panose="02020603050405020304" pitchFamily="18" charset="0"/>
                <a:cs typeface="Times New Roman" panose="02020603050405020304" pitchFamily="18" charset="0"/>
              </a:rPr>
              <a:t>• </a:t>
            </a:r>
            <a:r>
              <a:rPr sz="1050" b="1" i="0" u="none">
                <a:solidFill>
                  <a:srgbClr val="475569"/>
                </a:solidFill>
                <a:latin typeface="Times New Roman" panose="02020603050405020304" pitchFamily="18" charset="0"/>
                <a:cs typeface="Times New Roman" panose="02020603050405020304" pitchFamily="18" charset="0"/>
              </a:rPr>
              <a:t>Persistence:</a:t>
            </a:r>
            <a:r>
              <a:rPr sz="1050" b="0" i="0" u="none">
                <a:solidFill>
                  <a:srgbClr val="475569"/>
                </a:solidFill>
                <a:latin typeface="Times New Roman" panose="02020603050405020304" pitchFamily="18" charset="0"/>
                <a:cs typeface="Times New Roman" panose="02020603050405020304" pitchFamily="18" charset="0"/>
              </a:rPr>
              <a:t> Lấy </a:t>
            </a:r>
            <a:r>
              <a:rPr sz="900" b="0" i="0" u="none">
                <a:solidFill>
                  <a:srgbClr val="475569"/>
                </a:solidFill>
                <a:latin typeface="Times New Roman" panose="02020603050405020304" pitchFamily="18" charset="0"/>
                <a:cs typeface="Times New Roman" panose="02020603050405020304" pitchFamily="18" charset="0"/>
              </a:rPr>
              <a:t>energy_lag_1</a:t>
            </a:r>
            <a:r>
              <a:rPr sz="1050" b="0" i="0" u="none">
                <a:solidFill>
                  <a:srgbClr val="475569"/>
                </a:solidFill>
                <a:latin typeface="Times New Roman" panose="02020603050405020304" pitchFamily="18" charset="0"/>
                <a:cs typeface="Times New Roman" panose="02020603050405020304" pitchFamily="18" charset="0"/>
              </a:rPr>
              <a:t> làm dự báo</a:t>
            </a:r>
            <a:r>
              <a:rPr>
                <a:latin typeface="Times New Roman" panose="02020603050405020304" pitchFamily="18" charset="0"/>
                <a:cs typeface="Times New Roman" panose="02020603050405020304" pitchFamily="18" charset="0"/>
              </a:rPr>
              <a:t>
</a:t>
            </a:r>
            <a:r>
              <a:rPr sz="1050" b="0" i="0" u="none">
                <a:solidFill>
                  <a:srgbClr val="475569"/>
                </a:solidFill>
                <a:latin typeface="Times New Roman" panose="02020603050405020304" pitchFamily="18" charset="0"/>
                <a:cs typeface="Times New Roman" panose="02020603050405020304" pitchFamily="18" charset="0"/>
              </a:rPr>
              <a:t> • </a:t>
            </a:r>
            <a:r>
              <a:rPr sz="1050" b="1" i="0" u="none">
                <a:solidFill>
                  <a:srgbClr val="475569"/>
                </a:solidFill>
                <a:latin typeface="Times New Roman" panose="02020603050405020304" pitchFamily="18" charset="0"/>
                <a:cs typeface="Times New Roman" panose="02020603050405020304" pitchFamily="18" charset="0"/>
              </a:rPr>
              <a:t>ClockMean:</a:t>
            </a:r>
            <a:r>
              <a:rPr sz="1050" b="0" i="0" u="none">
                <a:solidFill>
                  <a:srgbClr val="475569"/>
                </a:solidFill>
                <a:latin typeface="Times New Roman" panose="02020603050405020304" pitchFamily="18" charset="0"/>
                <a:cs typeface="Times New Roman" panose="02020603050405020304" pitchFamily="18" charset="0"/>
              </a:rPr>
              <a:t> Dự báo theo trung bình lịch sử tổ hợp (Month, 15m-slot)</a:t>
            </a:r>
            <a:endParaRPr sz="1050" b="0" i="0" u="none">
              <a:solidFill>
                <a:srgbClr val="475569"/>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8277225" y="2622202"/>
            <a:ext cx="3881437" cy="200025"/>
          </a:xfrm>
          <a:prstGeom prst="rect">
            <a:avLst/>
          </a:prstGeom>
          <a:noFill/>
        </p:spPr>
        <p:txBody>
          <a:bodyPr wrap="none" lIns="0" tIns="0" rIns="0" bIns="0" anchor="t">
            <a:spAutoFit/>
          </a:bodyPr>
          <a:lstStyle/>
          <a:p>
            <a:pPr algn="l"/>
            <a:r>
              <a:rPr sz="1200" b="1" i="0" u="none">
                <a:solidFill>
                  <a:srgbClr val="0F172A"/>
                </a:solidFill>
                <a:latin typeface="Times New Roman" panose="02020603050405020304" pitchFamily="18" charset="0"/>
                <a:cs typeface="Times New Roman" panose="02020603050405020304" pitchFamily="18" charset="0"/>
              </a:rPr>
              <a:t>3. Candidate Suite</a:t>
            </a:r>
            <a:endParaRPr sz="1200" b="1" i="0" u="none">
              <a:solidFill>
                <a:srgbClr val="0F172A"/>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8277225" y="2898427"/>
            <a:ext cx="3200400" cy="514350"/>
          </a:xfrm>
          <a:prstGeom prst="rect">
            <a:avLst/>
          </a:prstGeom>
          <a:noFill/>
        </p:spPr>
        <p:txBody>
          <a:bodyPr wrap="square" lIns="0" tIns="0" rIns="0" bIns="0" anchor="t">
            <a:spAutoFit/>
          </a:bodyPr>
          <a:lstStyle/>
          <a:p>
            <a:pPr algn="l"/>
            <a:r>
              <a:rPr sz="1050" b="0" i="0" u="none">
                <a:solidFill>
                  <a:srgbClr val="475569"/>
                </a:solidFill>
                <a:latin typeface="Times New Roman" panose="02020603050405020304" pitchFamily="18" charset="0"/>
                <a:cs typeface="Times New Roman" panose="02020603050405020304" pitchFamily="18" charset="0"/>
              </a:rPr>
              <a:t>• Decision Tree Regressor</a:t>
            </a:r>
            <a:r>
              <a:rPr>
                <a:latin typeface="Times New Roman" panose="02020603050405020304" pitchFamily="18" charset="0"/>
                <a:cs typeface="Times New Roman" panose="02020603050405020304" pitchFamily="18" charset="0"/>
              </a:rPr>
              <a:t>
</a:t>
            </a:r>
            <a:r>
              <a:rPr sz="1050" b="0" i="0" u="none">
                <a:solidFill>
                  <a:srgbClr val="475569"/>
                </a:solidFill>
                <a:latin typeface="Times New Roman" panose="02020603050405020304" pitchFamily="18" charset="0"/>
                <a:cs typeface="Times New Roman" panose="02020603050405020304" pitchFamily="18" charset="0"/>
              </a:rPr>
              <a:t> • Random Forest (4 biến thể Feature)</a:t>
            </a:r>
            <a:r>
              <a:rPr>
                <a:latin typeface="Times New Roman" panose="02020603050405020304" pitchFamily="18" charset="0"/>
                <a:cs typeface="Times New Roman" panose="02020603050405020304" pitchFamily="18" charset="0"/>
              </a:rPr>
              <a:t>
</a:t>
            </a:r>
            <a:r>
              <a:rPr sz="1050" b="0" i="0" u="none">
                <a:solidFill>
                  <a:srgbClr val="475569"/>
                </a:solidFill>
                <a:latin typeface="Times New Roman" panose="02020603050405020304" pitchFamily="18" charset="0"/>
                <a:cs typeface="Times New Roman" panose="02020603050405020304" pitchFamily="18" charset="0"/>
              </a:rPr>
              <a:t> • XGBoost Regressor</a:t>
            </a:r>
            <a:endParaRPr sz="1050" b="0" i="0" u="none">
              <a:solidFill>
                <a:srgbClr val="475569"/>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489942" y="5572125"/>
            <a:ext cx="3196828" cy="342900"/>
          </a:xfrm>
          <a:prstGeom prst="rect">
            <a:avLst/>
          </a:prstGeom>
          <a:noFill/>
        </p:spPr>
        <p:txBody>
          <a:bodyPr wrap="square" lIns="0" tIns="0" rIns="0" bIns="0" anchor="t">
            <a:spAutoFit/>
          </a:bodyPr>
          <a:lstStyle/>
          <a:p>
            <a:pPr algn="ctr"/>
            <a:r>
              <a:rPr sz="1050" b="0" i="0" u="none">
                <a:solidFill>
                  <a:srgbClr val="64748B"/>
                </a:solidFill>
                <a:latin typeface="Times New Roman" panose="02020603050405020304" pitchFamily="18" charset="0"/>
                <a:cs typeface="Times New Roman" panose="02020603050405020304" pitchFamily="18" charset="0"/>
              </a:rPr>
              <a:t>n_estimators</a:t>
            </a:r>
            <a:r>
              <a:rPr>
                <a:latin typeface="Times New Roman" panose="02020603050405020304" pitchFamily="18" charset="0"/>
                <a:cs typeface="Times New Roman" panose="02020603050405020304" pitchFamily="18" charset="0"/>
              </a:rPr>
              <a:t>
</a:t>
            </a:r>
            <a:r>
              <a:rPr sz="1050" b="1" i="0" u="none">
                <a:solidFill>
                  <a:srgbClr val="64748B"/>
                </a:solidFill>
                <a:latin typeface="Times New Roman" panose="02020603050405020304" pitchFamily="18" charset="0"/>
                <a:cs typeface="Times New Roman" panose="02020603050405020304" pitchFamily="18" charset="0"/>
              </a:rPr>
              <a:t>200, 400</a:t>
            </a:r>
            <a:endParaRPr sz="1050" b="1" i="0" u="none">
              <a:solidFill>
                <a:srgbClr val="64748B"/>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3161704" y="5572125"/>
            <a:ext cx="3196828" cy="342900"/>
          </a:xfrm>
          <a:prstGeom prst="rect">
            <a:avLst/>
          </a:prstGeom>
          <a:noFill/>
        </p:spPr>
        <p:txBody>
          <a:bodyPr wrap="square" lIns="0" tIns="0" rIns="0" bIns="0" anchor="t">
            <a:spAutoFit/>
          </a:bodyPr>
          <a:lstStyle/>
          <a:p>
            <a:pPr algn="ctr"/>
            <a:r>
              <a:rPr sz="1050" b="0" i="0" u="none">
                <a:solidFill>
                  <a:srgbClr val="64748B"/>
                </a:solidFill>
                <a:latin typeface="Times New Roman" panose="02020603050405020304" pitchFamily="18" charset="0"/>
                <a:cs typeface="Times New Roman" panose="02020603050405020304" pitchFamily="18" charset="0"/>
              </a:rPr>
              <a:t>max_depth</a:t>
            </a:r>
            <a:r>
              <a:rPr>
                <a:latin typeface="Times New Roman" panose="02020603050405020304" pitchFamily="18" charset="0"/>
                <a:cs typeface="Times New Roman" panose="02020603050405020304" pitchFamily="18" charset="0"/>
              </a:rPr>
              <a:t>
</a:t>
            </a:r>
            <a:r>
              <a:rPr sz="1050" b="1" i="0" u="none">
                <a:solidFill>
                  <a:srgbClr val="64748B"/>
                </a:solidFill>
                <a:latin typeface="Times New Roman" panose="02020603050405020304" pitchFamily="18" charset="0"/>
                <a:cs typeface="Times New Roman" panose="02020603050405020304" pitchFamily="18" charset="0"/>
              </a:rPr>
              <a:t>8, 12, 16</a:t>
            </a:r>
            <a:endParaRPr sz="1050" b="1" i="0" u="none">
              <a:solidFill>
                <a:srgbClr val="64748B"/>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5833467" y="5572125"/>
            <a:ext cx="3196828" cy="342900"/>
          </a:xfrm>
          <a:prstGeom prst="rect">
            <a:avLst/>
          </a:prstGeom>
          <a:noFill/>
        </p:spPr>
        <p:txBody>
          <a:bodyPr wrap="square" lIns="0" tIns="0" rIns="0" bIns="0" anchor="t">
            <a:spAutoFit/>
          </a:bodyPr>
          <a:lstStyle/>
          <a:p>
            <a:pPr algn="ctr"/>
            <a:r>
              <a:rPr sz="1050" b="0" i="0" u="none">
                <a:solidFill>
                  <a:srgbClr val="64748B"/>
                </a:solidFill>
                <a:latin typeface="Times New Roman" panose="02020603050405020304" pitchFamily="18" charset="0"/>
                <a:cs typeface="Times New Roman" panose="02020603050405020304" pitchFamily="18" charset="0"/>
              </a:rPr>
              <a:t>min_samples_leaf</a:t>
            </a:r>
            <a:r>
              <a:rPr>
                <a:latin typeface="Times New Roman" panose="02020603050405020304" pitchFamily="18" charset="0"/>
                <a:cs typeface="Times New Roman" panose="02020603050405020304" pitchFamily="18" charset="0"/>
              </a:rPr>
              <a:t>
</a:t>
            </a:r>
            <a:r>
              <a:rPr sz="1050" b="1" i="0" u="none">
                <a:solidFill>
                  <a:srgbClr val="64748B"/>
                </a:solidFill>
                <a:latin typeface="Times New Roman" panose="02020603050405020304" pitchFamily="18" charset="0"/>
                <a:cs typeface="Times New Roman" panose="02020603050405020304" pitchFamily="18" charset="0"/>
              </a:rPr>
              <a:t>2, 5, 10</a:t>
            </a:r>
            <a:endParaRPr sz="1050" b="1" i="0" u="none">
              <a:solidFill>
                <a:srgbClr val="64748B"/>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8505229" y="5572125"/>
            <a:ext cx="3196828" cy="342900"/>
          </a:xfrm>
          <a:prstGeom prst="rect">
            <a:avLst/>
          </a:prstGeom>
          <a:noFill/>
        </p:spPr>
        <p:txBody>
          <a:bodyPr wrap="square" lIns="0" tIns="0" rIns="0" bIns="0" anchor="t">
            <a:spAutoFit/>
          </a:bodyPr>
          <a:lstStyle/>
          <a:p>
            <a:pPr algn="ctr"/>
            <a:r>
              <a:rPr sz="1050" b="0" i="0" u="none">
                <a:solidFill>
                  <a:srgbClr val="64748B"/>
                </a:solidFill>
                <a:latin typeface="Times New Roman" panose="02020603050405020304" pitchFamily="18" charset="0"/>
                <a:cs typeface="Times New Roman" panose="02020603050405020304" pitchFamily="18" charset="0"/>
              </a:rPr>
              <a:t>max_features</a:t>
            </a:r>
            <a:r>
              <a:rPr>
                <a:latin typeface="Times New Roman" panose="02020603050405020304" pitchFamily="18" charset="0"/>
                <a:cs typeface="Times New Roman" panose="02020603050405020304" pitchFamily="18" charset="0"/>
              </a:rPr>
              <a:t>
</a:t>
            </a:r>
            <a:r>
              <a:rPr sz="1050" b="1" i="0" u="none">
                <a:solidFill>
                  <a:srgbClr val="64748B"/>
                </a:solidFill>
                <a:latin typeface="Times New Roman" panose="02020603050405020304" pitchFamily="18" charset="0"/>
                <a:cs typeface="Times New Roman" panose="02020603050405020304" pitchFamily="18" charset="0"/>
              </a:rPr>
              <a:t>0.6, 0.8, 1.0</a:t>
            </a:r>
            <a:endParaRPr sz="1050" b="1" i="0" u="none">
              <a:solidFill>
                <a:srgbClr val="64748B"/>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580882" y="1215330"/>
            <a:ext cx="5001517" cy="3905250"/>
          </a:xfrm>
          <a:prstGeom prst="roundRect">
            <a:avLst>
              <a:gd name="adj" fmla="val 292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3810892"/>
            <a:ext cx="5704582" cy="962025"/>
          </a:xfrm>
          <a:prstGeom prst="roundRect">
            <a:avLst>
              <a:gd name="adj" fmla="val 792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4" name="Picture 3" descr="image.png"/>
          <p:cNvPicPr>
            <a:picLocks noChangeAspect="1"/>
          </p:cNvPicPr>
          <p:nvPr/>
        </p:nvPicPr>
        <p:blipFill>
          <a:blip r:embed="rId1"/>
          <a:stretch>
            <a:fillRect/>
          </a:stretch>
        </p:blipFill>
        <p:spPr>
          <a:xfrm>
            <a:off x="6704707" y="1605855"/>
            <a:ext cx="4753867" cy="3333750"/>
          </a:xfrm>
          <a:prstGeom prst="rect">
            <a:avLst/>
          </a:prstGeom>
        </p:spPr>
      </p:pic>
      <p:graphicFrame>
        <p:nvGraphicFramePr>
          <p:cNvPr id="5" name="Table 4"/>
          <p:cNvGraphicFramePr>
            <a:graphicFrameLocks noGrp="1"/>
          </p:cNvGraphicFramePr>
          <p:nvPr/>
        </p:nvGraphicFramePr>
        <p:xfrm>
          <a:off x="609600" y="1858267"/>
          <a:ext cx="5704580" cy="1800225"/>
        </p:xfrm>
        <a:graphic>
          <a:graphicData uri="http://schemas.openxmlformats.org/drawingml/2006/table">
            <a:tbl>
              <a:tblPr/>
              <a:tblGrid>
                <a:gridCol w="1766887"/>
                <a:gridCol w="1299864"/>
                <a:gridCol w="1400770"/>
                <a:gridCol w="1237059"/>
              </a:tblGrid>
              <a:tr h="360045">
                <a:tc>
                  <a:txBody>
                    <a:bodyPr/>
                    <a:lstStyle/>
                    <a:p>
                      <a:pPr algn="l"/>
                      <a:r>
                        <a:rPr sz="1010" b="1" i="0" u="none">
                          <a:solidFill>
                            <a:srgbClr val="FFFFFF"/>
                          </a:solidFill>
                          <a:latin typeface="Times New Roman" panose="02020603050405020304" pitchFamily="18" charset="0"/>
                          <a:cs typeface="Times New Roman" panose="02020603050405020304" pitchFamily="18" charset="0"/>
                        </a:rPr>
                        <a:t>Feature Set</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10" b="1" i="0" u="none">
                          <a:solidFill>
                            <a:srgbClr val="FFFFFF"/>
                          </a:solidFill>
                          <a:latin typeface="Times New Roman" panose="02020603050405020304" pitchFamily="18" charset="0"/>
                          <a:cs typeface="Times New Roman" panose="02020603050405020304" pitchFamily="18" charset="0"/>
                        </a:rPr>
                        <a:t>Pooled MAE</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10" b="1" i="0" u="none">
                          <a:solidFill>
                            <a:srgbClr val="FFFFFF"/>
                          </a:solidFill>
                          <a:latin typeface="Times New Roman" panose="02020603050405020304" pitchFamily="18" charset="0"/>
                          <a:cs typeface="Times New Roman" panose="02020603050405020304" pitchFamily="18" charset="0"/>
                        </a:rPr>
                        <a:t>Pooled RMSE</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10" b="1" i="0" u="none">
                          <a:solidFill>
                            <a:srgbClr val="FFFFFF"/>
                          </a:solidFill>
                          <a:latin typeface="Times New Roman" panose="02020603050405020304" pitchFamily="18" charset="0"/>
                          <a:cs typeface="Times New Roman" panose="02020603050405020304" pitchFamily="18" charset="0"/>
                        </a:rPr>
                        <a:t>Macro MAE</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r>
              <a:tr h="360045">
                <a:tc>
                  <a:txBody>
                    <a:bodyPr/>
                    <a:lstStyle/>
                    <a:p>
                      <a:pPr algn="l"/>
                      <a:r>
                        <a:rPr sz="1010" b="1" i="0" u="none">
                          <a:solidFill>
                            <a:srgbClr val="0369A1"/>
                          </a:solidFill>
                          <a:latin typeface="Times New Roman" panose="02020603050405020304" pitchFamily="18" charset="0"/>
                          <a:cs typeface="Times New Roman" panose="02020603050405020304" pitchFamily="18" charset="0"/>
                        </a:rPr>
                        <a:t>RF_extra_history</a:t>
                      </a:r>
                      <a:endParaRPr sz="1010" b="1" i="0" u="none">
                        <a:solidFill>
                          <a:srgbClr val="0369A1"/>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E0F2FE"/>
                    </a:solidFill>
                  </a:tcPr>
                </a:tc>
                <a:tc>
                  <a:txBody>
                    <a:bodyPr/>
                    <a:lstStyle/>
                    <a:p>
                      <a:pPr algn="l"/>
                      <a:r>
                        <a:rPr sz="1010" b="1" i="0" u="none">
                          <a:solidFill>
                            <a:srgbClr val="334155"/>
                          </a:solidFill>
                          <a:latin typeface="Times New Roman" panose="02020603050405020304" pitchFamily="18" charset="0"/>
                          <a:cs typeface="Times New Roman" panose="02020603050405020304" pitchFamily="18" charset="0"/>
                        </a:rPr>
                        <a:t>1.353</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E0F2FE"/>
                    </a:solidFill>
                  </a:tcPr>
                </a:tc>
                <a:tc>
                  <a:txBody>
                    <a:bodyPr/>
                    <a:lstStyle/>
                    <a:p>
                      <a:pPr algn="l"/>
                      <a:r>
                        <a:rPr sz="1010" b="1" i="0" u="none" dirty="0">
                          <a:solidFill>
                            <a:srgbClr val="334155"/>
                          </a:solidFill>
                          <a:latin typeface="Times New Roman" panose="02020603050405020304" pitchFamily="18" charset="0"/>
                          <a:cs typeface="Times New Roman" panose="02020603050405020304" pitchFamily="18" charset="0"/>
                        </a:rPr>
                        <a:t>3.186</a:t>
                      </a:r>
                      <a:endParaRPr sz="1010" b="1" i="0" u="none" dirty="0">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E0F2FE"/>
                    </a:solidFill>
                  </a:tcPr>
                </a:tc>
                <a:tc>
                  <a:txBody>
                    <a:bodyPr/>
                    <a:lstStyle/>
                    <a:p>
                      <a:pPr algn="l"/>
                      <a:r>
                        <a:rPr sz="1010" b="1" i="0" u="none">
                          <a:solidFill>
                            <a:srgbClr val="334155"/>
                          </a:solidFill>
                          <a:latin typeface="Times New Roman" panose="02020603050405020304" pitchFamily="18" charset="0"/>
                          <a:cs typeface="Times New Roman" panose="02020603050405020304" pitchFamily="18" charset="0"/>
                        </a:rPr>
                        <a:t>1.318</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E0F2FE"/>
                    </a:solidFill>
                  </a:tcPr>
                </a:tc>
              </a:tr>
              <a:tr h="360045">
                <a:tc>
                  <a:txBody>
                    <a:bodyPr/>
                    <a:lstStyle/>
                    <a:p>
                      <a:pPr algn="l"/>
                      <a:r>
                        <a:rPr sz="1010" b="0" i="0" u="none">
                          <a:solidFill>
                            <a:srgbClr val="334155"/>
                          </a:solidFill>
                          <a:latin typeface="Times New Roman" panose="02020603050405020304" pitchFamily="18" charset="0"/>
                          <a:cs typeface="Times New Roman" panose="02020603050405020304" pitchFamily="18" charset="0"/>
                        </a:rPr>
                        <a:t>RF_baseline</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1.355</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3.190</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1.321</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360045">
                <a:tc>
                  <a:txBody>
                    <a:bodyPr/>
                    <a:lstStyle/>
                    <a:p>
                      <a:pPr algn="l"/>
                      <a:r>
                        <a:rPr sz="1010" b="0" i="0" u="none">
                          <a:solidFill>
                            <a:srgbClr val="334155"/>
                          </a:solidFill>
                          <a:latin typeface="Times New Roman" panose="02020603050405020304" pitchFamily="18" charset="0"/>
                          <a:cs typeface="Times New Roman" panose="02020603050405020304" pitchFamily="18" charset="0"/>
                        </a:rPr>
                        <a:t>RF_no_weather</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1.373</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3.282</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1.337</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360045">
                <a:tc>
                  <a:txBody>
                    <a:bodyPr/>
                    <a:lstStyle/>
                    <a:p>
                      <a:pPr algn="l"/>
                      <a:r>
                        <a:rPr sz="1010" b="1" i="0" u="none">
                          <a:solidFill>
                            <a:srgbClr val="991B1B"/>
                          </a:solidFill>
                          <a:latin typeface="Times New Roman" panose="02020603050405020304" pitchFamily="18" charset="0"/>
                          <a:cs typeface="Times New Roman" panose="02020603050405020304" pitchFamily="18" charset="0"/>
                        </a:rPr>
                        <a:t>RF_no_lag</a:t>
                      </a:r>
                      <a:endParaRPr sz="1010" b="1" i="0" u="none">
                        <a:solidFill>
                          <a:srgbClr val="991B1B"/>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EF2F2"/>
                    </a:solidFill>
                  </a:tcPr>
                </a:tc>
                <a:tc>
                  <a:txBody>
                    <a:bodyPr/>
                    <a:lstStyle/>
                    <a:p>
                      <a:pPr algn="l"/>
                      <a:r>
                        <a:rPr sz="1010" b="1" i="0" u="none">
                          <a:solidFill>
                            <a:srgbClr val="991B1B"/>
                          </a:solidFill>
                          <a:latin typeface="Times New Roman" panose="02020603050405020304" pitchFamily="18" charset="0"/>
                          <a:cs typeface="Times New Roman" panose="02020603050405020304" pitchFamily="18" charset="0"/>
                        </a:rPr>
                        <a:t>2.841</a:t>
                      </a:r>
                      <a:endParaRPr sz="1010" b="1" i="0" u="none">
                        <a:solidFill>
                          <a:srgbClr val="991B1B"/>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EF2F2"/>
                    </a:solidFill>
                  </a:tcPr>
                </a:tc>
                <a:tc>
                  <a:txBody>
                    <a:bodyPr/>
                    <a:lstStyle/>
                    <a:p>
                      <a:pPr algn="l"/>
                      <a:r>
                        <a:rPr sz="1010" b="1" i="0" u="none">
                          <a:solidFill>
                            <a:srgbClr val="991B1B"/>
                          </a:solidFill>
                          <a:latin typeface="Times New Roman" panose="02020603050405020304" pitchFamily="18" charset="0"/>
                          <a:cs typeface="Times New Roman" panose="02020603050405020304" pitchFamily="18" charset="0"/>
                        </a:rPr>
                        <a:t>5.785</a:t>
                      </a:r>
                      <a:endParaRPr sz="1010" b="1" i="0" u="none">
                        <a:solidFill>
                          <a:srgbClr val="991B1B"/>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EF2F2"/>
                    </a:solidFill>
                  </a:tcPr>
                </a:tc>
                <a:tc>
                  <a:txBody>
                    <a:bodyPr/>
                    <a:lstStyle/>
                    <a:p>
                      <a:pPr algn="l"/>
                      <a:r>
                        <a:rPr sz="1010" b="1" i="0" u="none" dirty="0">
                          <a:solidFill>
                            <a:srgbClr val="991B1B"/>
                          </a:solidFill>
                          <a:latin typeface="Times New Roman" panose="02020603050405020304" pitchFamily="18" charset="0"/>
                          <a:cs typeface="Times New Roman" panose="02020603050405020304" pitchFamily="18" charset="0"/>
                        </a:rPr>
                        <a:t>2.766</a:t>
                      </a:r>
                      <a:endParaRPr sz="1010" b="1" i="0" u="none" dirty="0">
                        <a:solidFill>
                          <a:srgbClr val="991B1B"/>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EF2F2"/>
                    </a:solidFill>
                  </a:tcPr>
                </a:tc>
              </a:tr>
            </a:tbl>
          </a:graphicData>
        </a:graphic>
      </p:graphicFrame>
      <p:sp>
        <p:nvSpPr>
          <p:cNvPr id="6" name="TextBox 5"/>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4 &amp; 5: ĐÁNH GIÁ MÔ HÌNH</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Kết Quả Ablation Study &amp; Lựa Chọn Winner Theo Site</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609600" y="1562992"/>
            <a:ext cx="7130727" cy="180975"/>
          </a:xfrm>
          <a:prstGeom prst="rect">
            <a:avLst/>
          </a:prstGeom>
          <a:noFill/>
        </p:spPr>
        <p:txBody>
          <a:bodyPr wrap="none" lIns="0" tIns="0" rIns="0" bIns="0" anchor="t">
            <a:spAutoFit/>
          </a:bodyPr>
          <a:lstStyle/>
          <a:p>
            <a:pPr algn="l"/>
            <a:r>
              <a:rPr sz="1125" b="1" i="0" u="none">
                <a:solidFill>
                  <a:srgbClr val="0F172A"/>
                </a:solidFill>
                <a:latin typeface="Times New Roman" panose="02020603050405020304" pitchFamily="18" charset="0"/>
                <a:cs typeface="Times New Roman" panose="02020603050405020304" pitchFamily="18" charset="0"/>
              </a:rPr>
              <a:t>So Sánh Các Bộ Đặc Trưng Trên Tập Validation (144.558 Target)</a:t>
            </a:r>
            <a:endParaRPr sz="1125" b="1" i="0" u="none">
              <a:solidFill>
                <a:srgbClr val="0F172A"/>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7586216" y="1396305"/>
            <a:ext cx="3738562" cy="152400"/>
          </a:xfrm>
          <a:prstGeom prst="rect">
            <a:avLst/>
          </a:prstGeom>
          <a:noFill/>
        </p:spPr>
        <p:txBody>
          <a:bodyPr wrap="none" lIns="0" tIns="0" rIns="0" bIns="0" anchor="t">
            <a:spAutoFit/>
          </a:bodyPr>
          <a:lstStyle/>
          <a:p>
            <a:pPr algn="l"/>
            <a:r>
              <a:rPr sz="975" b="1" i="0" u="none" dirty="0" err="1">
                <a:solidFill>
                  <a:srgbClr val="0F172A"/>
                </a:solidFill>
                <a:latin typeface="Times New Roman" panose="02020603050405020304" pitchFamily="18" charset="0"/>
                <a:cs typeface="Times New Roman" panose="02020603050405020304" pitchFamily="18" charset="0"/>
              </a:rPr>
              <a:t>Mô</a:t>
            </a:r>
            <a:r>
              <a:rPr sz="975" b="1" i="0" u="none" dirty="0">
                <a:solidFill>
                  <a:srgbClr val="0F172A"/>
                </a:solidFill>
                <a:latin typeface="Times New Roman" panose="02020603050405020304" pitchFamily="18" charset="0"/>
                <a:cs typeface="Times New Roman" panose="02020603050405020304" pitchFamily="18" charset="0"/>
              </a:rPr>
              <a:t> </a:t>
            </a:r>
            <a:r>
              <a:rPr sz="975" b="1" i="0" u="none" dirty="0" err="1">
                <a:solidFill>
                  <a:srgbClr val="0F172A"/>
                </a:solidFill>
                <a:latin typeface="Times New Roman" panose="02020603050405020304" pitchFamily="18" charset="0"/>
                <a:cs typeface="Times New Roman" panose="02020603050405020304" pitchFamily="18" charset="0"/>
              </a:rPr>
              <a:t>Hình</a:t>
            </a:r>
            <a:r>
              <a:rPr sz="975" b="1" i="0" u="none" dirty="0">
                <a:solidFill>
                  <a:srgbClr val="0F172A"/>
                </a:solidFill>
                <a:latin typeface="Times New Roman" panose="02020603050405020304" pitchFamily="18" charset="0"/>
                <a:cs typeface="Times New Roman" panose="02020603050405020304" pitchFamily="18" charset="0"/>
              </a:rPr>
              <a:t> Thắng Theo Validation </a:t>
            </a:r>
            <a:r>
              <a:rPr sz="975" b="1" i="0" u="none" dirty="0" err="1">
                <a:solidFill>
                  <a:srgbClr val="0F172A"/>
                </a:solidFill>
                <a:latin typeface="Times New Roman" panose="02020603050405020304" pitchFamily="18" charset="0"/>
                <a:cs typeface="Times New Roman" panose="02020603050405020304" pitchFamily="18" charset="0"/>
              </a:rPr>
              <a:t>Dành</a:t>
            </a:r>
            <a:r>
              <a:rPr sz="975" b="1" i="0" u="none" dirty="0">
                <a:solidFill>
                  <a:srgbClr val="0F172A"/>
                </a:solidFill>
                <a:latin typeface="Times New Roman" panose="02020603050405020304" pitchFamily="18" charset="0"/>
                <a:cs typeface="Times New Roman" panose="02020603050405020304" pitchFamily="18" charset="0"/>
              </a:rPr>
              <a:t> Cho </a:t>
            </a:r>
            <a:r>
              <a:rPr sz="975" b="1" i="0" u="none" dirty="0" err="1">
                <a:solidFill>
                  <a:srgbClr val="0F172A"/>
                </a:solidFill>
                <a:latin typeface="Times New Roman" panose="02020603050405020304" pitchFamily="18" charset="0"/>
                <a:cs typeface="Times New Roman" panose="02020603050405020304" pitchFamily="18" charset="0"/>
              </a:rPr>
              <a:t>Từng</a:t>
            </a:r>
            <a:r>
              <a:rPr sz="975" b="1" i="0" u="none" dirty="0">
                <a:solidFill>
                  <a:srgbClr val="0F172A"/>
                </a:solidFill>
                <a:latin typeface="Times New Roman" panose="02020603050405020304" pitchFamily="18" charset="0"/>
                <a:cs typeface="Times New Roman" panose="02020603050405020304" pitchFamily="18" charset="0"/>
              </a:rPr>
              <a:t> Site</a:t>
            </a:r>
            <a:endParaRPr sz="975" b="1" i="0" u="none" dirty="0">
              <a:solidFill>
                <a:srgbClr val="0F172A"/>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52475" y="3953767"/>
            <a:ext cx="3059906" cy="152400"/>
          </a:xfrm>
          <a:prstGeom prst="rect">
            <a:avLst/>
          </a:prstGeom>
          <a:noFill/>
        </p:spPr>
        <p:txBody>
          <a:bodyPr wrap="none" lIns="0"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Thống Kê Khóa Winner Theo Site (25 site):</a:t>
            </a:r>
            <a:endParaRPr sz="975" b="1" i="0" u="none">
              <a:solidFill>
                <a:srgbClr val="334155"/>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876300" y="4129980"/>
            <a:ext cx="66675" cy="152400"/>
          </a:xfrm>
          <a:prstGeom prst="rect">
            <a:avLst/>
          </a:prstGeom>
          <a:noFill/>
        </p:spPr>
        <p:txBody>
          <a:bodyPr wrap="none" lIns="0" tIns="0" rIns="0" bIns="0" anchor="t">
            <a:spAutoFit/>
          </a:bodyPr>
          <a:lstStyle/>
          <a:p>
            <a:pPr algn="l"/>
            <a:r>
              <a:rPr sz="975" b="0" i="0" u="none">
                <a:solidFill>
                  <a:srgbClr val="334155"/>
                </a:solidFill>
                <a:latin typeface="Times New Roman" panose="02020603050405020304" pitchFamily="18" charset="0"/>
                <a:cs typeface="Times New Roman" panose="02020603050405020304" pitchFamily="18" charset="0"/>
              </a:rPr>
              <a:t>•</a:t>
            </a:r>
            <a:endParaRPr sz="975" b="0" i="0" u="none">
              <a:solidFill>
                <a:srgbClr val="334155"/>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942975" y="4144267"/>
            <a:ext cx="6535415" cy="161925"/>
          </a:xfrm>
          <a:prstGeom prst="rect">
            <a:avLst/>
          </a:prstGeom>
          <a:noFill/>
        </p:spPr>
        <p:txBody>
          <a:bodyPr wrap="none" lIns="66675"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20 Site</a:t>
            </a:r>
            <a:r>
              <a:rPr sz="975" b="0" i="0" u="none">
                <a:solidFill>
                  <a:srgbClr val="334155"/>
                </a:solidFill>
                <a:latin typeface="Times New Roman" panose="02020603050405020304" pitchFamily="18" charset="0"/>
                <a:cs typeface="Times New Roman" panose="02020603050405020304" pitchFamily="18" charset="0"/>
              </a:rPr>
              <a:t> chọn </a:t>
            </a:r>
            <a:r>
              <a:rPr sz="975" b="0" i="0" u="none">
                <a:solidFill>
                  <a:srgbClr val="0284C7"/>
                </a:solidFill>
                <a:latin typeface="Times New Roman" panose="02020603050405020304" pitchFamily="18" charset="0"/>
                <a:cs typeface="Times New Roman" panose="02020603050405020304" pitchFamily="18" charset="0"/>
              </a:rPr>
              <a:t>RF_extra_history</a:t>
            </a:r>
            <a:endParaRPr sz="975" b="0" i="0" u="none">
              <a:solidFill>
                <a:srgbClr val="0284C7"/>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76300" y="4291905"/>
            <a:ext cx="66675" cy="152400"/>
          </a:xfrm>
          <a:prstGeom prst="rect">
            <a:avLst/>
          </a:prstGeom>
          <a:noFill/>
        </p:spPr>
        <p:txBody>
          <a:bodyPr wrap="none" lIns="0" tIns="0" rIns="0" bIns="0" anchor="t">
            <a:spAutoFit/>
          </a:bodyPr>
          <a:lstStyle/>
          <a:p>
            <a:pPr algn="l"/>
            <a:r>
              <a:rPr sz="975" b="0" i="0" u="none">
                <a:solidFill>
                  <a:srgbClr val="334155"/>
                </a:solidFill>
                <a:latin typeface="Times New Roman" panose="02020603050405020304" pitchFamily="18" charset="0"/>
                <a:cs typeface="Times New Roman" panose="02020603050405020304" pitchFamily="18" charset="0"/>
              </a:rPr>
              <a:t>•</a:t>
            </a:r>
            <a:endParaRPr sz="975" b="0" i="0" u="none">
              <a:solidFill>
                <a:srgbClr val="334155"/>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942975" y="4306192"/>
            <a:ext cx="6535415" cy="161925"/>
          </a:xfrm>
          <a:prstGeom prst="rect">
            <a:avLst/>
          </a:prstGeom>
          <a:noFill/>
        </p:spPr>
        <p:txBody>
          <a:bodyPr wrap="none" lIns="66675"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3 Site</a:t>
            </a:r>
            <a:r>
              <a:rPr sz="975" b="0" i="0" u="none">
                <a:solidFill>
                  <a:srgbClr val="334155"/>
                </a:solidFill>
                <a:latin typeface="Times New Roman" panose="02020603050405020304" pitchFamily="18" charset="0"/>
                <a:cs typeface="Times New Roman" panose="02020603050405020304" pitchFamily="18" charset="0"/>
              </a:rPr>
              <a:t> chọn </a:t>
            </a:r>
            <a:r>
              <a:rPr sz="975" b="0" i="0" u="none">
                <a:solidFill>
                  <a:srgbClr val="0D9488"/>
                </a:solidFill>
                <a:latin typeface="Times New Roman" panose="02020603050405020304" pitchFamily="18" charset="0"/>
                <a:cs typeface="Times New Roman" panose="02020603050405020304" pitchFamily="18" charset="0"/>
              </a:rPr>
              <a:t>RF_baseline</a:t>
            </a:r>
            <a:endParaRPr sz="975" b="0" i="0" u="none">
              <a:solidFill>
                <a:srgbClr val="0D9488"/>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876300" y="4453830"/>
            <a:ext cx="66675" cy="152400"/>
          </a:xfrm>
          <a:prstGeom prst="rect">
            <a:avLst/>
          </a:prstGeom>
          <a:noFill/>
        </p:spPr>
        <p:txBody>
          <a:bodyPr wrap="none" lIns="0" tIns="0" rIns="0" bIns="0" anchor="t">
            <a:spAutoFit/>
          </a:bodyPr>
          <a:lstStyle/>
          <a:p>
            <a:pPr algn="l"/>
            <a:r>
              <a:rPr sz="975" b="0" i="0" u="none">
                <a:solidFill>
                  <a:srgbClr val="334155"/>
                </a:solidFill>
                <a:latin typeface="Times New Roman" panose="02020603050405020304" pitchFamily="18" charset="0"/>
                <a:cs typeface="Times New Roman" panose="02020603050405020304" pitchFamily="18" charset="0"/>
              </a:rPr>
              <a:t>•</a:t>
            </a:r>
            <a:endParaRPr sz="975" b="0" i="0" u="none">
              <a:solidFill>
                <a:srgbClr val="334155"/>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942975" y="4468117"/>
            <a:ext cx="6535415" cy="161925"/>
          </a:xfrm>
          <a:prstGeom prst="rect">
            <a:avLst/>
          </a:prstGeom>
          <a:noFill/>
        </p:spPr>
        <p:txBody>
          <a:bodyPr wrap="none" lIns="66675"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2 Site</a:t>
            </a:r>
            <a:r>
              <a:rPr sz="975" b="0" i="0" u="none">
                <a:solidFill>
                  <a:srgbClr val="334155"/>
                </a:solidFill>
                <a:latin typeface="Times New Roman" panose="02020603050405020304" pitchFamily="18" charset="0"/>
                <a:cs typeface="Times New Roman" panose="02020603050405020304" pitchFamily="18" charset="0"/>
              </a:rPr>
              <a:t> chọn </a:t>
            </a:r>
            <a:r>
              <a:rPr sz="975" b="0" i="0" u="none">
                <a:solidFill>
                  <a:srgbClr val="6366F1"/>
                </a:solidFill>
                <a:latin typeface="Times New Roman" panose="02020603050405020304" pitchFamily="18" charset="0"/>
                <a:cs typeface="Times New Roman" panose="02020603050405020304" pitchFamily="18" charset="0"/>
              </a:rPr>
              <a:t>RF_no_weather</a:t>
            </a:r>
            <a:endParaRPr sz="975" b="0" i="0" u="none">
              <a:solidFill>
                <a:srgbClr val="6366F1"/>
              </a:solidFill>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2"/>
          <a:stretch>
            <a:fillRect/>
          </a:stretch>
        </p:blipFill>
        <p:spPr>
          <a:xfrm>
            <a:off x="6735906" y="1729680"/>
            <a:ext cx="4753868" cy="3333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212627"/>
            <a:ext cx="2600325" cy="1219200"/>
          </a:xfrm>
          <a:prstGeom prst="roundRect">
            <a:avLst>
              <a:gd name="adj" fmla="val 9375"/>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3400425" y="2212627"/>
            <a:ext cx="2600325" cy="1219200"/>
          </a:xfrm>
          <a:prstGeom prst="roundRect">
            <a:avLst>
              <a:gd name="adj" fmla="val 9375"/>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6191250" y="2212627"/>
            <a:ext cx="2600325" cy="1219200"/>
          </a:xfrm>
          <a:prstGeom prst="roundRect">
            <a:avLst>
              <a:gd name="adj" fmla="val 9375"/>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8982075" y="2212627"/>
            <a:ext cx="2600325" cy="1219200"/>
          </a:xfrm>
          <a:prstGeom prst="roundRect">
            <a:avLst>
              <a:gd name="adj" fmla="val 9375"/>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Picture 5" descr="image.png"/>
          <p:cNvPicPr>
            <a:picLocks noChangeAspect="1"/>
          </p:cNvPicPr>
          <p:nvPr/>
        </p:nvPicPr>
        <p:blipFill>
          <a:blip r:embed="rId1"/>
          <a:stretch>
            <a:fillRect/>
          </a:stretch>
        </p:blipFill>
        <p:spPr>
          <a:xfrm>
            <a:off x="762000" y="5200650"/>
            <a:ext cx="152400" cy="133350"/>
          </a:xfrm>
          <a:prstGeom prst="rect">
            <a:avLst/>
          </a:prstGeom>
        </p:spPr>
      </p:pic>
      <p:pic>
        <p:nvPicPr>
          <p:cNvPr id="7" name="Picture 6" descr="image.png"/>
          <p:cNvPicPr>
            <a:picLocks noChangeAspect="1"/>
          </p:cNvPicPr>
          <p:nvPr/>
        </p:nvPicPr>
        <p:blipFill>
          <a:blip r:embed="rId1"/>
          <a:stretch>
            <a:fillRect/>
          </a:stretch>
        </p:blipFill>
        <p:spPr>
          <a:xfrm>
            <a:off x="762000" y="5200650"/>
            <a:ext cx="152400" cy="133350"/>
          </a:xfrm>
          <a:prstGeom prst="rect">
            <a:avLst/>
          </a:prstGeom>
        </p:spPr>
      </p:pic>
      <p:graphicFrame>
        <p:nvGraphicFramePr>
          <p:cNvPr id="8" name="Table 7"/>
          <p:cNvGraphicFramePr>
            <a:graphicFrameLocks noGrp="1"/>
          </p:cNvGraphicFramePr>
          <p:nvPr/>
        </p:nvGraphicFramePr>
        <p:xfrm>
          <a:off x="609600" y="4657725"/>
          <a:ext cx="10972796" cy="1628775"/>
        </p:xfrm>
        <a:graphic>
          <a:graphicData uri="http://schemas.openxmlformats.org/drawingml/2006/table">
            <a:tbl>
              <a:tblPr/>
              <a:tblGrid>
                <a:gridCol w="2882354"/>
                <a:gridCol w="1225301"/>
                <a:gridCol w="1462087"/>
                <a:gridCol w="1573410"/>
                <a:gridCol w="1364605"/>
                <a:gridCol w="1294953"/>
                <a:gridCol w="1170086"/>
              </a:tblGrid>
              <a:tr h="407193">
                <a:tc>
                  <a:txBody>
                    <a:bodyPr/>
                    <a:lstStyle/>
                    <a:p>
                      <a:pPr algn="l"/>
                      <a:r>
                        <a:rPr sz="1050" b="1" i="0" u="none">
                          <a:solidFill>
                            <a:srgbClr val="FFFFFF"/>
                          </a:solidFill>
                          <a:latin typeface="Times New Roman" panose="02020603050405020304" pitchFamily="18" charset="0"/>
                          <a:cs typeface="Times New Roman" panose="02020603050405020304" pitchFamily="18" charset="0"/>
                        </a:rPr>
                        <a:t>Mô Hình</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N Target</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MAE (kWh)</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RMSE (kWh)</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R² Pooled</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Macro R²</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50" b="1" i="0" u="none">
                          <a:solidFill>
                            <a:srgbClr val="FFFFFF"/>
                          </a:solidFill>
                          <a:latin typeface="Times New Roman" panose="02020603050405020304" pitchFamily="18" charset="0"/>
                          <a:cs typeface="Times New Roman" panose="02020603050405020304" pitchFamily="18" charset="0"/>
                        </a:rPr>
                        <a:t>WAPE</a:t>
                      </a:r>
                      <a:endParaRPr sz="105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r>
              <a:tr h="407193">
                <a:tc>
                  <a:txBody>
                    <a:bodyPr/>
                    <a:lstStyle/>
                    <a:p>
                      <a:pPr algn="l"/>
                      <a:r>
                        <a:rPr sz="1050" b="1" i="0" u="none">
                          <a:solidFill>
                            <a:srgbClr val="15803D"/>
                          </a:solidFill>
                          <a:latin typeface="Times New Roman" panose="02020603050405020304" pitchFamily="18" charset="0"/>
                          <a:cs typeface="Times New Roman" panose="02020603050405020304" pitchFamily="18" charset="0"/>
                        </a:rPr>
                        <a:t>Winner Refit (Train+Val)</a:t>
                      </a:r>
                      <a:endParaRPr sz="1050" b="1" i="0" u="none">
                        <a:solidFill>
                          <a:srgbClr val="15803D"/>
                        </a:solidFill>
                        <a:latin typeface="Times New Roman" panose="02020603050405020304" pitchFamily="18" charset="0"/>
                        <a:cs typeface="Times New Roman" panose="02020603050405020304" pitchFamily="18" charset="0"/>
                      </a:endParaRPr>
                    </a:p>
                  </a:txBody>
                  <a:tcPr marL="2667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150.164</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1.093</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2.636</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0.9475</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0.8933</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c>
                  <a:txBody>
                    <a:bodyPr/>
                    <a:lstStyle/>
                    <a:p>
                      <a:pPr algn="l"/>
                      <a:r>
                        <a:rPr sz="1050" b="1" i="0" u="none">
                          <a:solidFill>
                            <a:srgbClr val="334155"/>
                          </a:solidFill>
                          <a:latin typeface="Times New Roman" panose="02020603050405020304" pitchFamily="18" charset="0"/>
                          <a:cs typeface="Times New Roman" panose="02020603050405020304" pitchFamily="18" charset="0"/>
                        </a:rPr>
                        <a:t>14.31%</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0FDF4"/>
                    </a:solidFill>
                  </a:tcPr>
                </a:tc>
              </a:tr>
              <a:tr h="407193">
                <a:tc>
                  <a:txBody>
                    <a:bodyPr/>
                    <a:lstStyle/>
                    <a:p>
                      <a:pPr algn="l"/>
                      <a:r>
                        <a:rPr sz="1050" b="1" i="0" u="none">
                          <a:solidFill>
                            <a:srgbClr val="334155"/>
                          </a:solidFill>
                          <a:latin typeface="Times New Roman" panose="02020603050405020304" pitchFamily="18" charset="0"/>
                          <a:cs typeface="Times New Roman" panose="02020603050405020304" pitchFamily="18" charset="0"/>
                        </a:rPr>
                        <a:t>Persistence Baseline</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150.164</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1.387</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3.101</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0.9273</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0.8550</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18.16%</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407196">
                <a:tc>
                  <a:txBody>
                    <a:bodyPr/>
                    <a:lstStyle/>
                    <a:p>
                      <a:pPr algn="l"/>
                      <a:r>
                        <a:rPr sz="1050" b="1" i="0" u="none">
                          <a:solidFill>
                            <a:srgbClr val="334155"/>
                          </a:solidFill>
                          <a:latin typeface="Times New Roman" panose="02020603050405020304" pitchFamily="18" charset="0"/>
                          <a:cs typeface="Times New Roman" panose="02020603050405020304" pitchFamily="18" charset="0"/>
                        </a:rPr>
                        <a:t>ClockMean Baseline</a:t>
                      </a:r>
                      <a:endParaRPr sz="105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150.164</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2.852</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5.523</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0.7696</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0.5739</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50" b="0" i="0" u="none">
                          <a:solidFill>
                            <a:srgbClr val="334155"/>
                          </a:solidFill>
                          <a:latin typeface="Times New Roman" panose="02020603050405020304" pitchFamily="18" charset="0"/>
                          <a:cs typeface="Times New Roman" panose="02020603050405020304" pitchFamily="18" charset="0"/>
                        </a:rPr>
                        <a:t>37.35%</a:t>
                      </a:r>
                      <a:endParaRPr sz="105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r>
            </a:tbl>
          </a:graphicData>
        </a:graphic>
      </p:graphicFrame>
      <p:sp>
        <p:nvSpPr>
          <p:cNvPr id="9" name="TextBox 8"/>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5: KẾT QUẢ VÀ ĐÁNH GIÁ DỰ ĐOÁN</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Đánh Giá Mô Hình Trên Tập Test Quan Sát (150.164 Target)</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534590" y="2412652"/>
            <a:ext cx="2750343" cy="152400"/>
          </a:xfrm>
          <a:prstGeom prst="rect">
            <a:avLst/>
          </a:prstGeom>
          <a:noFill/>
        </p:spPr>
        <p:txBody>
          <a:bodyPr wrap="none" lIns="0" tIns="0" rIns="0" bIns="0" anchor="t">
            <a:spAutoFit/>
          </a:bodyPr>
          <a:lstStyle/>
          <a:p>
            <a:pPr algn="ctr"/>
            <a:r>
              <a:rPr sz="975" b="1" i="0" u="none">
                <a:solidFill>
                  <a:srgbClr val="166534"/>
                </a:solidFill>
                <a:latin typeface="Times New Roman" panose="02020603050405020304" pitchFamily="18" charset="0"/>
                <a:cs typeface="Times New Roman" panose="02020603050405020304" pitchFamily="18" charset="0"/>
              </a:rPr>
              <a:t>POOLED MAE</a:t>
            </a:r>
            <a:endParaRPr sz="975" b="1" i="0" u="none">
              <a:solidFill>
                <a:srgbClr val="166534"/>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34590" y="2603152"/>
            <a:ext cx="2750343" cy="447675"/>
          </a:xfrm>
          <a:prstGeom prst="rect">
            <a:avLst/>
          </a:prstGeom>
          <a:noFill/>
        </p:spPr>
        <p:txBody>
          <a:bodyPr wrap="none" lIns="0" tIns="0" rIns="0" bIns="0" anchor="t">
            <a:spAutoFit/>
          </a:bodyPr>
          <a:lstStyle/>
          <a:p>
            <a:pPr algn="ctr"/>
            <a:r>
              <a:rPr sz="2850" b="1" i="0" u="none">
                <a:solidFill>
                  <a:srgbClr val="15803D"/>
                </a:solidFill>
                <a:latin typeface="Times New Roman" panose="02020603050405020304" pitchFamily="18" charset="0"/>
                <a:cs typeface="Times New Roman" panose="02020603050405020304" pitchFamily="18" charset="0"/>
              </a:rPr>
              <a:t>1.093</a:t>
            </a:r>
            <a:endParaRPr sz="2850" b="1" i="0" u="none">
              <a:solidFill>
                <a:srgbClr val="15803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534590" y="3088927"/>
            <a:ext cx="2750343" cy="142875"/>
          </a:xfrm>
          <a:prstGeom prst="rect">
            <a:avLst/>
          </a:prstGeom>
          <a:noFill/>
        </p:spPr>
        <p:txBody>
          <a:bodyPr wrap="none" lIns="0" tIns="0" rIns="0" bIns="0" anchor="t">
            <a:spAutoFit/>
          </a:bodyPr>
          <a:lstStyle/>
          <a:p>
            <a:pPr algn="ctr"/>
            <a:r>
              <a:rPr sz="900" b="0" i="0" u="none">
                <a:solidFill>
                  <a:srgbClr val="166534"/>
                </a:solidFill>
                <a:latin typeface="Times New Roman" panose="02020603050405020304" pitchFamily="18" charset="0"/>
                <a:cs typeface="Times New Roman" panose="02020603050405020304" pitchFamily="18" charset="0"/>
              </a:rPr>
              <a:t>kWh / 15 phút (-21.2% vs Persist)</a:t>
            </a:r>
            <a:endParaRPr sz="900" b="0" i="0" u="none">
              <a:solidFill>
                <a:srgbClr val="166534"/>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3325415" y="2412652"/>
            <a:ext cx="2750343" cy="152400"/>
          </a:xfrm>
          <a:prstGeom prst="rect">
            <a:avLst/>
          </a:prstGeom>
          <a:noFill/>
        </p:spPr>
        <p:txBody>
          <a:bodyPr wrap="none" lIns="0" tIns="0" rIns="0" bIns="0" anchor="t">
            <a:spAutoFit/>
          </a:bodyPr>
          <a:lstStyle/>
          <a:p>
            <a:pPr algn="ctr"/>
            <a:r>
              <a:rPr sz="975" b="1" i="0" u="none">
                <a:solidFill>
                  <a:srgbClr val="166534"/>
                </a:solidFill>
                <a:latin typeface="Times New Roman" panose="02020603050405020304" pitchFamily="18" charset="0"/>
                <a:cs typeface="Times New Roman" panose="02020603050405020304" pitchFamily="18" charset="0"/>
              </a:rPr>
              <a:t>POOLED RMSE</a:t>
            </a:r>
            <a:endParaRPr sz="975" b="1" i="0" u="none">
              <a:solidFill>
                <a:srgbClr val="166534"/>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325415" y="2603152"/>
            <a:ext cx="2750343" cy="447675"/>
          </a:xfrm>
          <a:prstGeom prst="rect">
            <a:avLst/>
          </a:prstGeom>
          <a:noFill/>
        </p:spPr>
        <p:txBody>
          <a:bodyPr wrap="none" lIns="0" tIns="0" rIns="0" bIns="0" anchor="t">
            <a:spAutoFit/>
          </a:bodyPr>
          <a:lstStyle/>
          <a:p>
            <a:pPr algn="ctr"/>
            <a:r>
              <a:rPr sz="2850" b="1" i="0" u="none">
                <a:solidFill>
                  <a:srgbClr val="15803D"/>
                </a:solidFill>
                <a:latin typeface="Times New Roman" panose="02020603050405020304" pitchFamily="18" charset="0"/>
                <a:cs typeface="Times New Roman" panose="02020603050405020304" pitchFamily="18" charset="0"/>
              </a:rPr>
              <a:t>2.636</a:t>
            </a:r>
            <a:endParaRPr sz="2850" b="1" i="0" u="none">
              <a:solidFill>
                <a:srgbClr val="15803D"/>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3325415" y="3088927"/>
            <a:ext cx="2750343" cy="142875"/>
          </a:xfrm>
          <a:prstGeom prst="rect">
            <a:avLst/>
          </a:prstGeom>
          <a:noFill/>
        </p:spPr>
        <p:txBody>
          <a:bodyPr wrap="none" lIns="0" tIns="0" rIns="0" bIns="0" anchor="t">
            <a:spAutoFit/>
          </a:bodyPr>
          <a:lstStyle/>
          <a:p>
            <a:pPr algn="ctr"/>
            <a:r>
              <a:rPr sz="900" b="0" i="0" u="none">
                <a:solidFill>
                  <a:srgbClr val="166534"/>
                </a:solidFill>
                <a:latin typeface="Times New Roman" panose="02020603050405020304" pitchFamily="18" charset="0"/>
                <a:cs typeface="Times New Roman" panose="02020603050405020304" pitchFamily="18" charset="0"/>
              </a:rPr>
              <a:t>kWh / 15 phút</a:t>
            </a:r>
            <a:endParaRPr sz="900" b="0" i="0" u="none">
              <a:solidFill>
                <a:srgbClr val="166534"/>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116240" y="2412652"/>
            <a:ext cx="2750343" cy="152400"/>
          </a:xfrm>
          <a:prstGeom prst="rect">
            <a:avLst/>
          </a:prstGeom>
          <a:noFill/>
        </p:spPr>
        <p:txBody>
          <a:bodyPr wrap="none" lIns="0" tIns="0" rIns="0" bIns="0" anchor="t">
            <a:spAutoFit/>
          </a:bodyPr>
          <a:lstStyle/>
          <a:p>
            <a:pPr algn="ctr"/>
            <a:r>
              <a:rPr sz="975" b="1" i="0" u="none">
                <a:solidFill>
                  <a:srgbClr val="166534"/>
                </a:solidFill>
                <a:latin typeface="Times New Roman" panose="02020603050405020304" pitchFamily="18" charset="0"/>
                <a:cs typeface="Times New Roman" panose="02020603050405020304" pitchFamily="18" charset="0"/>
              </a:rPr>
              <a:t>POOLED R²</a:t>
            </a:r>
            <a:endParaRPr sz="975" b="1" i="0" u="none">
              <a:solidFill>
                <a:srgbClr val="166534"/>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6116240" y="2603152"/>
            <a:ext cx="2750343" cy="447675"/>
          </a:xfrm>
          <a:prstGeom prst="rect">
            <a:avLst/>
          </a:prstGeom>
          <a:noFill/>
        </p:spPr>
        <p:txBody>
          <a:bodyPr wrap="none" lIns="0" tIns="0" rIns="0" bIns="0" anchor="t">
            <a:spAutoFit/>
          </a:bodyPr>
          <a:lstStyle/>
          <a:p>
            <a:pPr algn="ctr"/>
            <a:r>
              <a:rPr sz="2850" b="1" i="0" u="none">
                <a:solidFill>
                  <a:srgbClr val="15803D"/>
                </a:solidFill>
                <a:latin typeface="Times New Roman" panose="02020603050405020304" pitchFamily="18" charset="0"/>
                <a:cs typeface="Times New Roman" panose="02020603050405020304" pitchFamily="18" charset="0"/>
              </a:rPr>
              <a:t>0.9475</a:t>
            </a:r>
            <a:endParaRPr sz="2850" b="1" i="0" u="none">
              <a:solidFill>
                <a:srgbClr val="15803D"/>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6116240" y="3088927"/>
            <a:ext cx="2750343" cy="142875"/>
          </a:xfrm>
          <a:prstGeom prst="rect">
            <a:avLst/>
          </a:prstGeom>
          <a:noFill/>
        </p:spPr>
        <p:txBody>
          <a:bodyPr wrap="none" lIns="0" tIns="0" rIns="0" bIns="0" anchor="t">
            <a:spAutoFit/>
          </a:bodyPr>
          <a:lstStyle/>
          <a:p>
            <a:pPr algn="ctr"/>
            <a:r>
              <a:rPr sz="900" b="0" i="0" u="none">
                <a:solidFill>
                  <a:srgbClr val="166534"/>
                </a:solidFill>
                <a:latin typeface="Times New Roman" panose="02020603050405020304" pitchFamily="18" charset="0"/>
                <a:cs typeface="Times New Roman" panose="02020603050405020304" pitchFamily="18" charset="0"/>
              </a:rPr>
              <a:t>So với 0.9273 của Persistence</a:t>
            </a:r>
            <a:endParaRPr sz="900" b="0" i="0" u="none">
              <a:solidFill>
                <a:srgbClr val="166534"/>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8907065" y="2412652"/>
            <a:ext cx="2750343" cy="152400"/>
          </a:xfrm>
          <a:prstGeom prst="rect">
            <a:avLst/>
          </a:prstGeom>
          <a:noFill/>
        </p:spPr>
        <p:txBody>
          <a:bodyPr wrap="none" lIns="0" tIns="0" rIns="0" bIns="0" anchor="t">
            <a:spAutoFit/>
          </a:bodyPr>
          <a:lstStyle/>
          <a:p>
            <a:pPr algn="ctr"/>
            <a:r>
              <a:rPr sz="975" b="1" i="0" u="none">
                <a:solidFill>
                  <a:srgbClr val="166534"/>
                </a:solidFill>
                <a:latin typeface="Times New Roman" panose="02020603050405020304" pitchFamily="18" charset="0"/>
                <a:cs typeface="Times New Roman" panose="02020603050405020304" pitchFamily="18" charset="0"/>
              </a:rPr>
              <a:t>POOLED WAPE</a:t>
            </a:r>
            <a:endParaRPr sz="975" b="1" i="0" u="none">
              <a:solidFill>
                <a:srgbClr val="166534"/>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8907065" y="2603152"/>
            <a:ext cx="2750343" cy="447675"/>
          </a:xfrm>
          <a:prstGeom prst="rect">
            <a:avLst/>
          </a:prstGeom>
          <a:noFill/>
        </p:spPr>
        <p:txBody>
          <a:bodyPr wrap="none" lIns="0" tIns="0" rIns="0" bIns="0" anchor="t">
            <a:spAutoFit/>
          </a:bodyPr>
          <a:lstStyle/>
          <a:p>
            <a:pPr algn="ctr"/>
            <a:r>
              <a:rPr sz="2850" b="1" i="0" u="none">
                <a:solidFill>
                  <a:srgbClr val="15803D"/>
                </a:solidFill>
                <a:latin typeface="Times New Roman" panose="02020603050405020304" pitchFamily="18" charset="0"/>
                <a:cs typeface="Times New Roman" panose="02020603050405020304" pitchFamily="18" charset="0"/>
              </a:rPr>
              <a:t>14.31%</a:t>
            </a:r>
            <a:endParaRPr sz="2850" b="1" i="0" u="none">
              <a:solidFill>
                <a:srgbClr val="15803D"/>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8907065" y="3088927"/>
            <a:ext cx="2750343" cy="142875"/>
          </a:xfrm>
          <a:prstGeom prst="rect">
            <a:avLst/>
          </a:prstGeom>
          <a:noFill/>
        </p:spPr>
        <p:txBody>
          <a:bodyPr wrap="none" lIns="0" tIns="0" rIns="0" bIns="0" anchor="t">
            <a:spAutoFit/>
          </a:bodyPr>
          <a:lstStyle/>
          <a:p>
            <a:pPr algn="ctr"/>
            <a:r>
              <a:rPr sz="900" b="0" i="0" u="none">
                <a:solidFill>
                  <a:srgbClr val="166534"/>
                </a:solidFill>
                <a:latin typeface="Times New Roman" panose="02020603050405020304" pitchFamily="18" charset="0"/>
                <a:cs typeface="Times New Roman" panose="02020603050405020304" pitchFamily="18" charset="0"/>
              </a:rPr>
              <a:t>So với 18.16% của Persistence</a:t>
            </a:r>
            <a:endParaRPr sz="900" b="0" i="0" u="none">
              <a:solidFill>
                <a:srgbClr val="166534"/>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1177230"/>
            <a:ext cx="5372100" cy="4000500"/>
          </a:xfrm>
          <a:prstGeom prst="roundRect">
            <a:avLst>
              <a:gd name="adj" fmla="val 2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210300" y="1177230"/>
            <a:ext cx="5372100" cy="4000500"/>
          </a:xfrm>
          <a:prstGeom prst="roundRect">
            <a:avLst>
              <a:gd name="adj" fmla="val 2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4" name="Picture 3" descr="image.png"/>
          <p:cNvPicPr>
            <a:picLocks noChangeAspect="1"/>
          </p:cNvPicPr>
          <p:nvPr/>
        </p:nvPicPr>
        <p:blipFill>
          <a:blip r:embed="rId1"/>
          <a:stretch>
            <a:fillRect/>
          </a:stretch>
        </p:blipFill>
        <p:spPr>
          <a:xfrm>
            <a:off x="771525" y="1729680"/>
            <a:ext cx="5048250" cy="3143250"/>
          </a:xfrm>
          <a:prstGeom prst="rect">
            <a:avLst/>
          </a:prstGeom>
        </p:spPr>
      </p:pic>
      <p:pic>
        <p:nvPicPr>
          <p:cNvPr id="5" name="Picture 4" descr="image.png"/>
          <p:cNvPicPr>
            <a:picLocks noChangeAspect="1"/>
          </p:cNvPicPr>
          <p:nvPr/>
        </p:nvPicPr>
        <p:blipFill>
          <a:blip r:embed="rId2"/>
          <a:stretch>
            <a:fillRect/>
          </a:stretch>
        </p:blipFill>
        <p:spPr>
          <a:xfrm>
            <a:off x="6372225" y="1729680"/>
            <a:ext cx="5048250" cy="3143250"/>
          </a:xfrm>
          <a:prstGeom prst="rect">
            <a:avLst/>
          </a:prstGeom>
        </p:spPr>
      </p:pic>
      <p:sp>
        <p:nvSpPr>
          <p:cNvPr id="6" name="TextBox 5"/>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5: PHÂN TÍCH HỒI QUY CHI TIẾT</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So Sánh Thực Tế vs Dự Báo Trên Site 27 (Tập Test)</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81000" y="5311080"/>
            <a:ext cx="12954000" cy="161925"/>
          </a:xfrm>
          <a:prstGeom prst="rect">
            <a:avLst/>
          </a:prstGeom>
          <a:noFill/>
        </p:spPr>
        <p:txBody>
          <a:bodyPr wrap="none" lIns="0" tIns="0" rIns="0" bIns="0" anchor="t">
            <a:spAutoFit/>
          </a:bodyPr>
          <a:lstStyle/>
          <a:p>
            <a:pPr algn="ctr"/>
            <a:r>
              <a:rPr sz="1010" b="1" i="0" u="none">
                <a:solidFill>
                  <a:srgbClr val="475569"/>
                </a:solidFill>
                <a:latin typeface="Times New Roman" panose="02020603050405020304" pitchFamily="18" charset="0"/>
                <a:cs typeface="Times New Roman" panose="02020603050405020304" pitchFamily="18" charset="0"/>
              </a:rPr>
              <a:t>Nhận xét:</a:t>
            </a:r>
            <a:r>
              <a:rPr sz="1010" b="0" i="0" u="none">
                <a:solidFill>
                  <a:srgbClr val="475569"/>
                </a:solidFill>
                <a:latin typeface="Times New Roman" panose="02020603050405020304" pitchFamily="18" charset="0"/>
                <a:cs typeface="Times New Roman" panose="02020603050405020304" pitchFamily="18" charset="0"/>
              </a:rPr>
              <a:t> Mô hình bám rất sát chu kỳ ngày/đêm. Sai số chủ yếu xuất hiện ở các đỉnh spike công suất cao hoặc khi có biến động thời tiết đột ngột.</a:t>
            </a:r>
            <a:endParaRPr sz="1010" b="0" i="0" u="none">
              <a:solidFill>
                <a:srgbClr val="475569"/>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666875" y="1482030"/>
            <a:ext cx="4071937" cy="171450"/>
          </a:xfrm>
          <a:prstGeom prst="rect">
            <a:avLst/>
          </a:prstGeom>
          <a:noFill/>
        </p:spPr>
        <p:txBody>
          <a:bodyPr wrap="none" lIns="0" tIns="0" rIns="0" bIns="0" anchor="t">
            <a:spAutoFit/>
          </a:bodyPr>
          <a:lstStyle/>
          <a:p>
            <a:pPr algn="l"/>
            <a:r>
              <a:rPr sz="1050" b="1" i="0" u="none" dirty="0">
                <a:solidFill>
                  <a:srgbClr val="0F172A"/>
                </a:solidFill>
                <a:latin typeface="Times New Roman" panose="02020603050405020304" pitchFamily="18" charset="0"/>
                <a:cs typeface="Times New Roman" panose="02020603050405020304" pitchFamily="18" charset="0"/>
              </a:rPr>
              <a:t>Chu </a:t>
            </a:r>
            <a:r>
              <a:rPr sz="1050" b="1" i="0" u="none" dirty="0" err="1">
                <a:solidFill>
                  <a:srgbClr val="0F172A"/>
                </a:solidFill>
                <a:latin typeface="Times New Roman" panose="02020603050405020304" pitchFamily="18" charset="0"/>
                <a:cs typeface="Times New Roman" panose="02020603050405020304" pitchFamily="18" charset="0"/>
              </a:rPr>
              <a:t>Chuỗi</a:t>
            </a:r>
            <a:r>
              <a:rPr sz="1050" b="1" i="0" u="none" dirty="0">
                <a:solidFill>
                  <a:srgbClr val="0F172A"/>
                </a:solidFill>
                <a:latin typeface="Times New Roman" panose="02020603050405020304" pitchFamily="18" charset="0"/>
                <a:cs typeface="Times New Roman" panose="02020603050405020304" pitchFamily="18" charset="0"/>
              </a:rPr>
              <a:t> </a:t>
            </a:r>
            <a:r>
              <a:rPr sz="1050" b="1" i="0" u="none" dirty="0" err="1">
                <a:solidFill>
                  <a:srgbClr val="0F172A"/>
                </a:solidFill>
                <a:latin typeface="Times New Roman" panose="02020603050405020304" pitchFamily="18" charset="0"/>
                <a:cs typeface="Times New Roman" panose="02020603050405020304" pitchFamily="18" charset="0"/>
              </a:rPr>
              <a:t>Thời</a:t>
            </a:r>
            <a:r>
              <a:rPr sz="1050" b="1" i="0" u="none" dirty="0">
                <a:solidFill>
                  <a:srgbClr val="0F172A"/>
                </a:solidFill>
                <a:latin typeface="Times New Roman" panose="02020603050405020304" pitchFamily="18" charset="0"/>
                <a:cs typeface="Times New Roman" panose="02020603050405020304" pitchFamily="18" charset="0"/>
              </a:rPr>
              <a:t> Gian Actual vs Forecast (1 </a:t>
            </a:r>
            <a:r>
              <a:rPr sz="1050" b="1" i="0" u="none" dirty="0" err="1">
                <a:solidFill>
                  <a:srgbClr val="0F172A"/>
                </a:solidFill>
                <a:latin typeface="Times New Roman" panose="02020603050405020304" pitchFamily="18" charset="0"/>
                <a:cs typeface="Times New Roman" panose="02020603050405020304" pitchFamily="18" charset="0"/>
              </a:rPr>
              <a:t>Tuần</a:t>
            </a:r>
            <a:r>
              <a:rPr sz="1050" b="1" i="0" u="none" dirty="0">
                <a:solidFill>
                  <a:srgbClr val="0F172A"/>
                </a:solidFill>
                <a:latin typeface="Times New Roman" panose="02020603050405020304" pitchFamily="18" charset="0"/>
                <a:cs typeface="Times New Roman" panose="02020603050405020304" pitchFamily="18" charset="0"/>
              </a:rPr>
              <a:t> Test)</a:t>
            </a:r>
            <a:endParaRPr sz="1050" b="1" i="0" u="none" dirty="0">
              <a:solidFill>
                <a:srgbClr val="0F172A"/>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462837" y="1482030"/>
            <a:ext cx="3583781" cy="171450"/>
          </a:xfrm>
          <a:prstGeom prst="rect">
            <a:avLst/>
          </a:prstGeom>
          <a:noFill/>
        </p:spPr>
        <p:txBody>
          <a:bodyPr wrap="none" lIns="0" tIns="0" rIns="0" bIns="0" anchor="t">
            <a:spAutoFit/>
          </a:bodyPr>
          <a:lstStyle/>
          <a:p>
            <a:pPr algn="l"/>
            <a:r>
              <a:rPr sz="1050" b="1" i="0" u="none">
                <a:solidFill>
                  <a:srgbClr val="0F172A"/>
                </a:solidFill>
                <a:latin typeface="Times New Roman" panose="02020603050405020304" pitchFamily="18" charset="0"/>
                <a:cs typeface="Times New Roman" panose="02020603050405020304" pitchFamily="18" charset="0"/>
              </a:rPr>
              <a:t>Biểu Đồ Phân Tán Scatter Actual vs Predicted</a:t>
            </a:r>
            <a:endParaRPr sz="1050" b="1" i="0" u="none">
              <a:solidFill>
                <a:srgbClr val="0F172A"/>
              </a:solidFill>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771525" y="1786829"/>
            <a:ext cx="4967287" cy="3266433"/>
          </a:xfrm>
          <a:prstGeom prst="rect">
            <a:avLst/>
          </a:prstGeom>
        </p:spPr>
      </p:pic>
      <p:pic>
        <p:nvPicPr>
          <p:cNvPr id="14" name="Picture 13"/>
          <p:cNvPicPr>
            <a:picLocks noChangeAspect="1"/>
          </p:cNvPicPr>
          <p:nvPr/>
        </p:nvPicPr>
        <p:blipFill>
          <a:blip r:embed="rId4"/>
          <a:stretch>
            <a:fillRect/>
          </a:stretch>
        </p:blipFill>
        <p:spPr>
          <a:xfrm>
            <a:off x="6372224" y="1768259"/>
            <a:ext cx="5048251" cy="31046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1177230"/>
            <a:ext cx="5837932" cy="4095750"/>
          </a:xfrm>
          <a:prstGeom prst="roundRect">
            <a:avLst>
              <a:gd name="adj" fmla="val 279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676132" y="1177230"/>
            <a:ext cx="4906267" cy="4095750"/>
          </a:xfrm>
          <a:prstGeom prst="roundRect">
            <a:avLst>
              <a:gd name="adj" fmla="val 279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4" name="Picture 3" descr="image.png"/>
          <p:cNvPicPr>
            <a:picLocks noChangeAspect="1"/>
          </p:cNvPicPr>
          <p:nvPr/>
        </p:nvPicPr>
        <p:blipFill>
          <a:blip r:embed="rId1"/>
          <a:stretch>
            <a:fillRect/>
          </a:stretch>
        </p:blipFill>
        <p:spPr>
          <a:xfrm>
            <a:off x="733425" y="1615380"/>
            <a:ext cx="5590282" cy="3429000"/>
          </a:xfrm>
          <a:prstGeom prst="rect">
            <a:avLst/>
          </a:prstGeom>
        </p:spPr>
      </p:pic>
      <p:pic>
        <p:nvPicPr>
          <p:cNvPr id="5" name="Picture 4" descr="image.png"/>
          <p:cNvPicPr>
            <a:picLocks noChangeAspect="1"/>
          </p:cNvPicPr>
          <p:nvPr/>
        </p:nvPicPr>
        <p:blipFill>
          <a:blip r:embed="rId2"/>
          <a:stretch>
            <a:fillRect/>
          </a:stretch>
        </p:blipFill>
        <p:spPr>
          <a:xfrm>
            <a:off x="6799957" y="1615380"/>
            <a:ext cx="4658617" cy="3429000"/>
          </a:xfrm>
          <a:prstGeom prst="rect">
            <a:avLst/>
          </a:prstGeom>
        </p:spPr>
      </p:pic>
      <p:sp>
        <p:nvSpPr>
          <p:cNvPr id="6" name="TextBox 5"/>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5: KẾT QUẢ THEO TỪNG SITE</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Thống Kê Chi Tiết Chỉ Số Test Cho 25 Hệ Thống Solar</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609600" y="5387280"/>
            <a:ext cx="2714625" cy="152400"/>
          </a:xfrm>
          <a:prstGeom prst="rect">
            <a:avLst/>
          </a:prstGeom>
          <a:noFill/>
        </p:spPr>
        <p:txBody>
          <a:bodyPr wrap="none" lIns="0" tIns="0" rIns="0" bIns="0" anchor="t">
            <a:spAutoFit/>
          </a:bodyPr>
          <a:lstStyle/>
          <a:p>
            <a:pPr algn="l"/>
            <a:r>
              <a:rPr sz="975" b="0" i="0" u="none">
                <a:solidFill>
                  <a:srgbClr val="64748B"/>
                </a:solidFill>
                <a:latin typeface="Times New Roman" panose="02020603050405020304" pitchFamily="18" charset="0"/>
                <a:cs typeface="Times New Roman" panose="02020603050405020304" pitchFamily="18" charset="0"/>
              </a:rPr>
              <a:t>• Site 16 có MAE thấp nhất (0.219 kWh)</a:t>
            </a:r>
            <a:endParaRPr sz="975" b="0" i="0" u="none">
              <a:solidFill>
                <a:srgbClr val="64748B"/>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4252912" y="5387280"/>
            <a:ext cx="2345531" cy="152400"/>
          </a:xfrm>
          <a:prstGeom prst="rect">
            <a:avLst/>
          </a:prstGeom>
          <a:noFill/>
        </p:spPr>
        <p:txBody>
          <a:bodyPr wrap="none" lIns="0" tIns="0" rIns="0" bIns="0" anchor="t">
            <a:spAutoFit/>
          </a:bodyPr>
          <a:lstStyle/>
          <a:p>
            <a:pPr algn="l"/>
            <a:r>
              <a:rPr sz="975" b="0" i="0" u="none">
                <a:solidFill>
                  <a:srgbClr val="64748B"/>
                </a:solidFill>
                <a:latin typeface="Times New Roman" panose="02020603050405020304" pitchFamily="18" charset="0"/>
                <a:cs typeface="Times New Roman" panose="02020603050405020304" pitchFamily="18" charset="0"/>
              </a:rPr>
              <a:t>• Site 27 có R² cao nhất (0.9094)</a:t>
            </a:r>
            <a:endParaRPr sz="975" b="0" i="0" u="none">
              <a:solidFill>
                <a:srgbClr val="64748B"/>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600950" y="5387280"/>
            <a:ext cx="4591050" cy="152400"/>
          </a:xfrm>
          <a:prstGeom prst="rect">
            <a:avLst/>
          </a:prstGeom>
          <a:noFill/>
        </p:spPr>
        <p:txBody>
          <a:bodyPr wrap="none" lIns="0" tIns="0" rIns="0" bIns="0" anchor="t">
            <a:spAutoFit/>
          </a:bodyPr>
          <a:lstStyle/>
          <a:p>
            <a:pPr algn="l"/>
            <a:r>
              <a:rPr sz="975" b="0" i="0" u="none">
                <a:solidFill>
                  <a:srgbClr val="64748B"/>
                </a:solidFill>
                <a:latin typeface="Times New Roman" panose="02020603050405020304" pitchFamily="18" charset="0"/>
                <a:cs typeface="Times New Roman" panose="02020603050405020304" pitchFamily="18" charset="0"/>
              </a:rPr>
              <a:t>• Site 25 có MAE cao nhất (4.586 kWh - do quy mô công suất kWp lớn)</a:t>
            </a:r>
            <a:endParaRPr sz="975" b="0" i="0" u="none">
              <a:solidFill>
                <a:srgbClr val="64748B"/>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161728" y="1405830"/>
            <a:ext cx="3417093" cy="152400"/>
          </a:xfrm>
          <a:prstGeom prst="rect">
            <a:avLst/>
          </a:prstGeom>
          <a:noFill/>
        </p:spPr>
        <p:txBody>
          <a:bodyPr wrap="none" lIns="0" tIns="0" rIns="0" bIns="0" anchor="t">
            <a:spAutoFit/>
          </a:bodyPr>
          <a:lstStyle/>
          <a:p>
            <a:pPr algn="l"/>
            <a:r>
              <a:rPr sz="975" b="1" i="0" u="none">
                <a:solidFill>
                  <a:srgbClr val="0F172A"/>
                </a:solidFill>
                <a:latin typeface="Times New Roman" panose="02020603050405020304" pitchFamily="18" charset="0"/>
                <a:cs typeface="Times New Roman" panose="02020603050405020304" pitchFamily="18" charset="0"/>
              </a:rPr>
              <a:t>Phân Bố R² Theo Site &amp; Phân Bố Sai Số Residual</a:t>
            </a:r>
            <a:endParaRPr sz="975" b="1" i="0" u="none">
              <a:solidFill>
                <a:srgbClr val="0F172A"/>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7695753" y="1405830"/>
            <a:ext cx="3583781" cy="152400"/>
          </a:xfrm>
          <a:prstGeom prst="rect">
            <a:avLst/>
          </a:prstGeom>
          <a:noFill/>
        </p:spPr>
        <p:txBody>
          <a:bodyPr wrap="none" lIns="0" tIns="0" rIns="0" bIns="0" anchor="t">
            <a:spAutoFit/>
          </a:bodyPr>
          <a:lstStyle/>
          <a:p>
            <a:pPr algn="l"/>
            <a:r>
              <a:rPr sz="975" b="1" i="0" u="none">
                <a:solidFill>
                  <a:srgbClr val="0F172A"/>
                </a:solidFill>
                <a:latin typeface="Times New Roman" panose="02020603050405020304" pitchFamily="18" charset="0"/>
                <a:cs typeface="Times New Roman" panose="02020603050405020304" pitchFamily="18" charset="0"/>
              </a:rPr>
              <a:t>Bảng Chỉ Số Chi Tiết Lấy Từ Output Model Scores</a:t>
            </a:r>
            <a:endParaRPr sz="975" b="1" i="0" u="none">
              <a:solidFill>
                <a:srgbClr val="0F172A"/>
              </a:solidFill>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733424" y="1558230"/>
            <a:ext cx="5362575" cy="3604703"/>
          </a:xfrm>
          <a:prstGeom prst="rect">
            <a:avLst/>
          </a:prstGeom>
        </p:spPr>
      </p:pic>
      <p:pic>
        <p:nvPicPr>
          <p:cNvPr id="16" name="Picture 15"/>
          <p:cNvPicPr>
            <a:picLocks noChangeAspect="1"/>
          </p:cNvPicPr>
          <p:nvPr/>
        </p:nvPicPr>
        <p:blipFill>
          <a:blip r:embed="rId4"/>
          <a:stretch>
            <a:fillRect/>
          </a:stretch>
        </p:blipFill>
        <p:spPr>
          <a:xfrm>
            <a:off x="6781669" y="1672530"/>
            <a:ext cx="4676905" cy="34904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724525"/>
            <a:ext cx="10972800" cy="676275"/>
          </a:xfrm>
          <a:prstGeom prst="roundRect">
            <a:avLst>
              <a:gd name="adj" fmla="val 1126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2469802"/>
            <a:ext cx="5372100" cy="1771650"/>
          </a:xfrm>
          <a:prstGeom prst="roundRect">
            <a:avLst>
              <a:gd name="adj" fmla="val 6451"/>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6210300" y="2469802"/>
            <a:ext cx="5372100" cy="1771650"/>
          </a:xfrm>
          <a:prstGeom prst="roundRect">
            <a:avLst>
              <a:gd name="adj" fmla="val 6451"/>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847725" y="3355627"/>
            <a:ext cx="4895850" cy="647700"/>
          </a:xfrm>
          <a:prstGeom prst="roundRect">
            <a:avLst>
              <a:gd name="adj" fmla="val 8823"/>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847725" y="3355627"/>
            <a:ext cx="38100" cy="6477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7" name="Picture 6" descr="image.png"/>
          <p:cNvPicPr>
            <a:picLocks noChangeAspect="1"/>
          </p:cNvPicPr>
          <p:nvPr/>
        </p:nvPicPr>
        <p:blipFill>
          <a:blip r:embed="rId1"/>
          <a:stretch>
            <a:fillRect/>
          </a:stretch>
        </p:blipFill>
        <p:spPr>
          <a:xfrm>
            <a:off x="847725" y="2731740"/>
            <a:ext cx="133350" cy="171450"/>
          </a:xfrm>
          <a:prstGeom prst="rect">
            <a:avLst/>
          </a:prstGeom>
        </p:spPr>
      </p:pic>
      <p:pic>
        <p:nvPicPr>
          <p:cNvPr id="8" name="Picture 7" descr="image.png"/>
          <p:cNvPicPr>
            <a:picLocks noChangeAspect="1"/>
          </p:cNvPicPr>
          <p:nvPr/>
        </p:nvPicPr>
        <p:blipFill>
          <a:blip r:embed="rId2"/>
          <a:stretch>
            <a:fillRect/>
          </a:stretch>
        </p:blipFill>
        <p:spPr>
          <a:xfrm>
            <a:off x="6448425" y="2731740"/>
            <a:ext cx="152400" cy="171450"/>
          </a:xfrm>
          <a:prstGeom prst="rect">
            <a:avLst/>
          </a:prstGeom>
        </p:spPr>
      </p:pic>
      <p:sp>
        <p:nvSpPr>
          <p:cNvPr id="9" name="TextBox 8"/>
          <p:cNvSpPr txBox="1"/>
          <p:nvPr/>
        </p:nvSpPr>
        <p:spPr>
          <a:xfrm>
            <a:off x="838200" y="5876925"/>
            <a:ext cx="10610850" cy="371475"/>
          </a:xfrm>
          <a:prstGeom prst="rect">
            <a:avLst/>
          </a:prstGeom>
          <a:noFill/>
        </p:spPr>
        <p:txBody>
          <a:bodyPr wrap="square" lIns="0" tIns="0" rIns="0" bIns="0" anchor="t">
            <a:spAutoFit/>
          </a:bodyPr>
          <a:lstStyle/>
          <a:p>
            <a:pPr algn="l"/>
            <a:r>
              <a:rPr sz="1050" b="1" i="0" u="none">
                <a:solidFill>
                  <a:srgbClr val="1E40AF"/>
                </a:solidFill>
                <a:latin typeface="Times New Roman" panose="02020603050405020304" pitchFamily="18" charset="0"/>
                <a:cs typeface="Times New Roman" panose="02020603050405020304" pitchFamily="18" charset="0"/>
              </a:rPr>
              <a:t>Phiên bản được chọn:</a:t>
            </a:r>
            <a:r>
              <a:rPr sz="1050" b="0" i="0" u="none">
                <a:solidFill>
                  <a:srgbClr val="1E40AF"/>
                </a:solidFill>
                <a:latin typeface="Times New Roman" panose="02020603050405020304" pitchFamily="18" charset="0"/>
                <a:cs typeface="Times New Roman" panose="02020603050405020304" pitchFamily="18" charset="0"/>
              </a:rPr>
              <a:t> </a:t>
            </a:r>
            <a:r>
              <a:rPr sz="1050" b="1" i="0" u="none">
                <a:solidFill>
                  <a:srgbClr val="1E40AF"/>
                </a:solidFill>
                <a:latin typeface="Times New Roman" panose="02020603050405020304" pitchFamily="18" charset="0"/>
                <a:cs typeface="Times New Roman" panose="02020603050405020304" pitchFamily="18" charset="0"/>
              </a:rPr>
              <a:t>anomaly_local_calendar_v1</a:t>
            </a:r>
            <a:r>
              <a:rPr sz="1050" b="0" i="0" u="none">
                <a:solidFill>
                  <a:srgbClr val="1E40AF"/>
                </a:solidFill>
                <a:latin typeface="Times New Roman" panose="02020603050405020304" pitchFamily="18" charset="0"/>
                <a:cs typeface="Times New Roman" panose="02020603050405020304" pitchFamily="18" charset="0"/>
              </a:rPr>
              <a:t> — Xử lý lịch địa phương Australia/Melbourne đầy đủ, giữ khoảng thiếu dữ liệu là NaN để tránh báo động giả khi mất kết nối.</a:t>
            </a:r>
            <a:endParaRPr sz="1050" b="0" i="0" u="none">
              <a:solidFill>
                <a:srgbClr val="1E40A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6: SÀNG LỌC BẤT THƯỜNG &amp; BẢO TRÌ</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Quy Trình Tính Performance Ratio &amp; Quy Tắc Cảnh Báo</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057275" y="2707927"/>
            <a:ext cx="6205775" cy="219075"/>
          </a:xfrm>
          <a:prstGeom prst="rect">
            <a:avLst/>
          </a:prstGeom>
          <a:noFill/>
        </p:spPr>
        <p:txBody>
          <a:bodyPr wrap="none" lIns="0" tIns="0" rIns="0" bIns="0" anchor="ctr">
            <a:spAutoFit/>
          </a:bodyPr>
          <a:lstStyle/>
          <a:p>
            <a:pPr algn="l"/>
            <a:r>
              <a:rPr sz="1350" b="1" i="0" u="none">
                <a:solidFill>
                  <a:srgbClr val="0F172A"/>
                </a:solidFill>
                <a:latin typeface="Times New Roman" panose="02020603050405020304" pitchFamily="18" charset="0"/>
                <a:cs typeface="Times New Roman" panose="02020603050405020304" pitchFamily="18" charset="0"/>
              </a:rPr>
              <a:t>Reference XGBoost Model</a:t>
            </a:r>
            <a:endParaRPr sz="1350" b="1" i="0" u="none">
              <a:solidFill>
                <a:srgbClr val="0F172A"/>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47725" y="3041302"/>
            <a:ext cx="6119812" cy="200025"/>
          </a:xfrm>
          <a:prstGeom prst="rect">
            <a:avLst/>
          </a:prstGeom>
          <a:noFill/>
        </p:spPr>
        <p:txBody>
          <a:bodyPr wrap="none" lIns="0" tIns="0" rIns="0" bIns="0" anchor="t">
            <a:spAutoFit/>
          </a:bodyPr>
          <a:lstStyle/>
          <a:p>
            <a:pPr algn="l">
              <a:lnSpc>
                <a:spcPts val="1575"/>
              </a:lnSpc>
            </a:pPr>
            <a:r>
              <a:rPr sz="1050" b="0" i="0" u="none">
                <a:solidFill>
                  <a:srgbClr val="475569"/>
                </a:solidFill>
                <a:latin typeface="Times New Roman" panose="02020603050405020304" pitchFamily="18" charset="0"/>
                <a:cs typeface="Times New Roman" panose="02020603050405020304" pitchFamily="18" charset="0"/>
              </a:rPr>
              <a:t>Fit riêng cho từng site thuần trên </a:t>
            </a:r>
            <a:r>
              <a:rPr sz="1050" b="1" i="0" u="none">
                <a:solidFill>
                  <a:srgbClr val="475569"/>
                </a:solidFill>
                <a:latin typeface="Times New Roman" panose="02020603050405020304" pitchFamily="18" charset="0"/>
                <a:cs typeface="Times New Roman" panose="02020603050405020304" pitchFamily="18" charset="0"/>
              </a:rPr>
              <a:t>Thời tiết + Lịch + Góc mặt trời</a:t>
            </a:r>
            <a:r>
              <a:rPr sz="1050" b="0" i="0" u="none">
                <a:solidFill>
                  <a:srgbClr val="475569"/>
                </a:solidFill>
                <a:latin typeface="Times New Roman" panose="02020603050405020304" pitchFamily="18" charset="0"/>
                <a:cs typeface="Times New Roman" panose="02020603050405020304" pitchFamily="18" charset="0"/>
              </a:rPr>
              <a:t>.</a:t>
            </a:r>
            <a:endParaRPr sz="1050" b="0" i="0" u="none">
              <a:solidFill>
                <a:srgbClr val="475569"/>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981075" y="3450877"/>
            <a:ext cx="4724400" cy="457200"/>
          </a:xfrm>
          <a:prstGeom prst="rect">
            <a:avLst/>
          </a:prstGeom>
          <a:noFill/>
        </p:spPr>
        <p:txBody>
          <a:bodyPr wrap="square" lIns="0" tIns="0" rIns="0" bIns="0" anchor="t">
            <a:spAutoFit/>
          </a:bodyPr>
          <a:lstStyle/>
          <a:p>
            <a:pPr algn="l"/>
            <a:r>
              <a:rPr sz="975" b="1" i="0" u="none">
                <a:solidFill>
                  <a:srgbClr val="991B1B"/>
                </a:solidFill>
                <a:latin typeface="Times New Roman" panose="02020603050405020304" pitchFamily="18" charset="0"/>
                <a:cs typeface="Times New Roman" panose="02020603050405020304" pitchFamily="18" charset="0"/>
              </a:rPr>
              <a:t>Cực kỳ quan trọng:</a:t>
            </a:r>
            <a:r>
              <a:rPr sz="975" b="0" i="0" u="none">
                <a:solidFill>
                  <a:srgbClr val="991B1B"/>
                </a:solidFill>
                <a:latin typeface="Times New Roman" panose="02020603050405020304" pitchFamily="18" charset="0"/>
                <a:cs typeface="Times New Roman" panose="02020603050405020304" pitchFamily="18" charset="0"/>
              </a:rPr>
              <a:t> Loại bỏ toàn bộ Lag sản lượng! Nếu dùng Lag ngắn hạn, mô hình sẽ coi việc sụt giảm kéo dài là bình thường và không thể phát hiện bất thường.</a:t>
            </a:r>
            <a:endParaRPr sz="975" b="0" i="0" u="none">
              <a:solidFill>
                <a:srgbClr val="991B1B"/>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6677025" y="2707927"/>
            <a:ext cx="5514975" cy="219075"/>
          </a:xfrm>
          <a:prstGeom prst="rect">
            <a:avLst/>
          </a:prstGeom>
          <a:noFill/>
        </p:spPr>
        <p:txBody>
          <a:bodyPr wrap="none" lIns="0" tIns="0" rIns="0" bIns="0" anchor="ctr">
            <a:spAutoFit/>
          </a:bodyPr>
          <a:lstStyle/>
          <a:p>
            <a:pPr algn="l"/>
            <a:r>
              <a:rPr sz="1350" b="1" i="0" u="none">
                <a:solidFill>
                  <a:srgbClr val="0F172A"/>
                </a:solidFill>
                <a:latin typeface="Times New Roman" panose="02020603050405020304" pitchFamily="18" charset="0"/>
                <a:cs typeface="Times New Roman" panose="02020603050405020304" pitchFamily="18" charset="0"/>
              </a:rPr>
              <a:t>Quy Tắc Gắn Cờ Theo Khoảng / Ngày</a:t>
            </a:r>
            <a:endParaRPr sz="1350" b="1" i="0" u="none">
              <a:solidFill>
                <a:srgbClr val="0F172A"/>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6448425" y="3041302"/>
            <a:ext cx="5743575" cy="215205"/>
          </a:xfrm>
          <a:prstGeom prst="rect">
            <a:avLst/>
          </a:prstGeom>
          <a:noFill/>
        </p:spPr>
        <p:txBody>
          <a:bodyPr wrap="none" lIns="0" tIns="0" rIns="0" bIns="0" anchor="t">
            <a:spAutoFit/>
          </a:bodyPr>
          <a:lstStyle/>
          <a:p>
            <a:pPr algn="l">
              <a:lnSpc>
                <a:spcPts val="1620"/>
              </a:lnSpc>
            </a:pPr>
            <a:r>
              <a:rPr sz="1010" b="0" i="0" u="none">
                <a:solidFill>
                  <a:srgbClr val="334155"/>
                </a:solidFill>
                <a:latin typeface="Times New Roman" panose="02020603050405020304" pitchFamily="18" charset="0"/>
                <a:cs typeface="Times New Roman" panose="02020603050405020304" pitchFamily="18" charset="0"/>
              </a:rPr>
              <a:t>• </a:t>
            </a:r>
            <a:r>
              <a:rPr sz="1010" b="1" i="0" u="none">
                <a:solidFill>
                  <a:srgbClr val="0284C7"/>
                </a:solidFill>
                <a:latin typeface="Times New Roman" panose="02020603050405020304" pitchFamily="18" charset="0"/>
                <a:cs typeface="Times New Roman" panose="02020603050405020304" pitchFamily="18" charset="0"/>
              </a:rPr>
              <a:t>Performance Ratio</a:t>
            </a:r>
            <a:r>
              <a:rPr sz="1010" b="0" i="0" u="none">
                <a:solidFill>
                  <a:srgbClr val="334155"/>
                </a:solidFill>
                <a:latin typeface="Times New Roman" panose="02020603050405020304" pitchFamily="18" charset="0"/>
                <a:cs typeface="Times New Roman" panose="02020603050405020304" pitchFamily="18" charset="0"/>
              </a:rPr>
              <a:t> = Actual kWh / Expected kWh</a:t>
            </a:r>
            <a:endParaRPr sz="1010" b="0" i="0" u="none">
              <a:solidFill>
                <a:srgbClr val="334155"/>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6448425" y="3256508"/>
            <a:ext cx="5743575" cy="215205"/>
          </a:xfrm>
          <a:prstGeom prst="rect">
            <a:avLst/>
          </a:prstGeom>
          <a:noFill/>
        </p:spPr>
        <p:txBody>
          <a:bodyPr wrap="none" lIns="0" tIns="0" rIns="0" bIns="0" anchor="t">
            <a:spAutoFit/>
          </a:bodyPr>
          <a:lstStyle/>
          <a:p>
            <a:pPr algn="l">
              <a:lnSpc>
                <a:spcPts val="1620"/>
              </a:lnSpc>
            </a:pPr>
            <a:r>
              <a:rPr sz="1010" b="0" i="0" u="none">
                <a:solidFill>
                  <a:srgbClr val="334155"/>
                </a:solidFill>
                <a:latin typeface="Times New Roman" panose="02020603050405020304" pitchFamily="18" charset="0"/>
                <a:cs typeface="Times New Roman" panose="02020603050405020304" pitchFamily="18" charset="0"/>
              </a:rPr>
              <a:t>• </a:t>
            </a:r>
            <a:r>
              <a:rPr sz="1010" b="1" i="0" u="none">
                <a:solidFill>
                  <a:srgbClr val="EF4444"/>
                </a:solidFill>
                <a:latin typeface="Times New Roman" panose="02020603050405020304" pitchFamily="18" charset="0"/>
                <a:cs typeface="Times New Roman" panose="02020603050405020304" pitchFamily="18" charset="0"/>
              </a:rPr>
              <a:t>fault_run_1h</a:t>
            </a:r>
            <a:r>
              <a:rPr sz="1010" b="0" i="0" u="none">
                <a:solidFill>
                  <a:srgbClr val="334155"/>
                </a:solidFill>
                <a:latin typeface="Times New Roman" panose="02020603050405020304" pitchFamily="18" charset="0"/>
                <a:cs typeface="Times New Roman" panose="02020603050405020304" pitchFamily="18" charset="0"/>
              </a:rPr>
              <a:t>: Near-zero (Actual ≤ 10% Expected) 4 khoảng liên tiếp (1 giờ)</a:t>
            </a:r>
            <a:endParaRPr sz="1010" b="0" i="0" u="none">
              <a:solidFill>
                <a:srgbClr val="334155"/>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6448425" y="3471713"/>
            <a:ext cx="5743575" cy="215205"/>
          </a:xfrm>
          <a:prstGeom prst="rect">
            <a:avLst/>
          </a:prstGeom>
          <a:noFill/>
        </p:spPr>
        <p:txBody>
          <a:bodyPr wrap="none" lIns="0" tIns="0" rIns="0" bIns="0" anchor="t">
            <a:spAutoFit/>
          </a:bodyPr>
          <a:lstStyle/>
          <a:p>
            <a:pPr algn="l">
              <a:lnSpc>
                <a:spcPts val="1620"/>
              </a:lnSpc>
            </a:pPr>
            <a:r>
              <a:rPr sz="1010" b="0" i="0" u="none">
                <a:solidFill>
                  <a:srgbClr val="334155"/>
                </a:solidFill>
                <a:latin typeface="Times New Roman" panose="02020603050405020304" pitchFamily="18" charset="0"/>
                <a:cs typeface="Times New Roman" panose="02020603050405020304" pitchFamily="18" charset="0"/>
              </a:rPr>
              <a:t>• </a:t>
            </a:r>
            <a:r>
              <a:rPr sz="1010" b="1" i="0" u="none">
                <a:solidFill>
                  <a:srgbClr val="D97706"/>
                </a:solidFill>
                <a:latin typeface="Times New Roman" panose="02020603050405020304" pitchFamily="18" charset="0"/>
                <a:cs typeface="Times New Roman" panose="02020603050405020304" pitchFamily="18" charset="0"/>
              </a:rPr>
              <a:t>underperf_run_2h</a:t>
            </a:r>
            <a:r>
              <a:rPr sz="1010" b="0" i="0" u="none">
                <a:solidFill>
                  <a:srgbClr val="334155"/>
                </a:solidFill>
                <a:latin typeface="Times New Roman" panose="02020603050405020304" pitchFamily="18" charset="0"/>
                <a:cs typeface="Times New Roman" panose="02020603050405020304" pitchFamily="18" charset="0"/>
              </a:rPr>
              <a:t>: Ratio &lt; Threshold 8 khoảng liên tiếp (2 giờ)</a:t>
            </a:r>
            <a:endParaRPr sz="1010" b="0" i="0" u="none">
              <a:solidFill>
                <a:srgbClr val="334155"/>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6448425" y="3686919"/>
            <a:ext cx="5743575" cy="215205"/>
          </a:xfrm>
          <a:prstGeom prst="rect">
            <a:avLst/>
          </a:prstGeom>
          <a:noFill/>
        </p:spPr>
        <p:txBody>
          <a:bodyPr wrap="none" lIns="0" tIns="0" rIns="0" bIns="0" anchor="t">
            <a:spAutoFit/>
          </a:bodyPr>
          <a:lstStyle/>
          <a:p>
            <a:pPr algn="l">
              <a:lnSpc>
                <a:spcPts val="1620"/>
              </a:lnSpc>
            </a:pPr>
            <a:r>
              <a:rPr sz="1010" b="0" i="0" u="none">
                <a:solidFill>
                  <a:srgbClr val="334155"/>
                </a:solidFill>
                <a:latin typeface="Times New Roman" panose="02020603050405020304" pitchFamily="18" charset="0"/>
                <a:cs typeface="Times New Roman" panose="02020603050405020304" pitchFamily="18" charset="0"/>
              </a:rPr>
              <a:t>• </a:t>
            </a:r>
            <a:r>
              <a:rPr sz="1010" b="1" i="0" u="none">
                <a:solidFill>
                  <a:srgbClr val="059669"/>
                </a:solidFill>
                <a:latin typeface="Times New Roman" panose="02020603050405020304" pitchFamily="18" charset="0"/>
                <a:cs typeface="Times New Roman" panose="02020603050405020304" pitchFamily="18" charset="0"/>
              </a:rPr>
              <a:t>Daily Maintenance</a:t>
            </a:r>
            <a:r>
              <a:rPr sz="1010" b="0" i="0" u="none">
                <a:solidFill>
                  <a:srgbClr val="334155"/>
                </a:solidFill>
                <a:latin typeface="Times New Roman" panose="02020603050405020304" pitchFamily="18" charset="0"/>
                <a:cs typeface="Times New Roman" panose="02020603050405020304" pitchFamily="18" charset="0"/>
              </a:rPr>
              <a:t>: Median Ratio 3 ngày liên tiếp dưới ngưỡng Calibrated</a:t>
            </a:r>
            <a:endParaRPr sz="1010" b="0" i="0" u="none">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336357" y="1177230"/>
            <a:ext cx="5246042" cy="4000500"/>
          </a:xfrm>
          <a:prstGeom prst="roundRect">
            <a:avLst>
              <a:gd name="adj" fmla="val 28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09600" y="1177230"/>
            <a:ext cx="5498157" cy="885825"/>
          </a:xfrm>
          <a:prstGeom prst="roundRect">
            <a:avLst>
              <a:gd name="adj" fmla="val 8602"/>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609600" y="2734567"/>
            <a:ext cx="5498157" cy="885825"/>
          </a:xfrm>
          <a:prstGeom prst="roundRect">
            <a:avLst>
              <a:gd name="adj" fmla="val 8602"/>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09600" y="4291905"/>
            <a:ext cx="5498157" cy="885825"/>
          </a:xfrm>
          <a:prstGeom prst="roundRect">
            <a:avLst>
              <a:gd name="adj" fmla="val 8602"/>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609600" y="1177230"/>
            <a:ext cx="57150" cy="8858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09600" y="2734567"/>
            <a:ext cx="57150" cy="88582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ectangle 7"/>
          <p:cNvSpPr/>
          <p:nvPr/>
        </p:nvSpPr>
        <p:spPr>
          <a:xfrm>
            <a:off x="609600" y="4291905"/>
            <a:ext cx="57150" cy="8858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ounded Rectangle 8"/>
          <p:cNvSpPr/>
          <p:nvPr/>
        </p:nvSpPr>
        <p:spPr>
          <a:xfrm>
            <a:off x="5298132" y="1329630"/>
            <a:ext cx="619125" cy="1905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5298132" y="2886967"/>
            <a:ext cx="619125" cy="1905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ounded Rectangle 10"/>
          <p:cNvSpPr/>
          <p:nvPr/>
        </p:nvSpPr>
        <p:spPr>
          <a:xfrm>
            <a:off x="5240982" y="4444305"/>
            <a:ext cx="676275" cy="1905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12" name="Picture 11" descr="image.png"/>
          <p:cNvPicPr>
            <a:picLocks noChangeAspect="1"/>
          </p:cNvPicPr>
          <p:nvPr/>
        </p:nvPicPr>
        <p:blipFill>
          <a:blip r:embed="rId1"/>
          <a:stretch>
            <a:fillRect/>
          </a:stretch>
        </p:blipFill>
        <p:spPr>
          <a:xfrm>
            <a:off x="6460182" y="1615380"/>
            <a:ext cx="4998392" cy="3333750"/>
          </a:xfrm>
          <a:prstGeom prst="rect">
            <a:avLst/>
          </a:prstGeom>
        </p:spPr>
      </p:pic>
      <p:sp>
        <p:nvSpPr>
          <p:cNvPr id="13" name="TextBox 12"/>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6: KẾT QUẢ SÀNG LỌC HỆ THỐNG</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Phân Nhóm Ưu Tiên Rà Soát Bảo Trì Cho 25 Site</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7459116" y="1405830"/>
            <a:ext cx="3750468" cy="152400"/>
          </a:xfrm>
          <a:prstGeom prst="rect">
            <a:avLst/>
          </a:prstGeom>
          <a:noFill/>
        </p:spPr>
        <p:txBody>
          <a:bodyPr wrap="none" lIns="0" tIns="0" rIns="0" bIns="0" anchor="t">
            <a:spAutoFit/>
          </a:bodyPr>
          <a:lstStyle/>
          <a:p>
            <a:pPr algn="l"/>
            <a:r>
              <a:rPr sz="975" b="1" i="0" u="none">
                <a:solidFill>
                  <a:srgbClr val="0F172A"/>
                </a:solidFill>
                <a:latin typeface="Times New Roman" panose="02020603050405020304" pitchFamily="18" charset="0"/>
                <a:cs typeface="Times New Roman" panose="02020603050405020304" pitchFamily="18" charset="0"/>
              </a:rPr>
              <a:t>Minh Họa Sản Lượng Actual vs Expected Tại Site 24</a:t>
            </a:r>
            <a:endParaRPr sz="975" b="1" i="0" u="none">
              <a:solidFill>
                <a:srgbClr val="0F172A"/>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857250" y="1577280"/>
            <a:ext cx="6325009" cy="152400"/>
          </a:xfrm>
          <a:prstGeom prst="rect">
            <a:avLst/>
          </a:prstGeom>
          <a:noFill/>
        </p:spPr>
        <p:txBody>
          <a:bodyPr wrap="none" lIns="0" tIns="0" rIns="0" bIns="0" anchor="t">
            <a:spAutoFit/>
          </a:bodyPr>
          <a:lstStyle/>
          <a:p>
            <a:pPr algn="l"/>
            <a:r>
              <a:rPr sz="975" b="1" i="0" u="none">
                <a:solidFill>
                  <a:srgbClr val="7F1D1D"/>
                </a:solidFill>
                <a:latin typeface="Times New Roman" panose="02020603050405020304" pitchFamily="18" charset="0"/>
                <a:cs typeface="Times New Roman" panose="02020603050405020304" pitchFamily="18" charset="0"/>
              </a:rPr>
              <a:t>Danh sách:</a:t>
            </a:r>
            <a:r>
              <a:rPr sz="975" b="0" i="0" u="none">
                <a:solidFill>
                  <a:srgbClr val="7F1D1D"/>
                </a:solidFill>
                <a:latin typeface="Times New Roman" panose="02020603050405020304" pitchFamily="18" charset="0"/>
                <a:cs typeface="Times New Roman" panose="02020603050405020304" pitchFamily="18" charset="0"/>
              </a:rPr>
              <a:t> Site 24, 18, 15, 35, 25, 34</a:t>
            </a:r>
            <a:endParaRPr sz="975" b="0" i="0" u="none">
              <a:solidFill>
                <a:srgbClr val="7F1D1D"/>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857250" y="1767780"/>
            <a:ext cx="6325009" cy="142875"/>
          </a:xfrm>
          <a:prstGeom prst="rect">
            <a:avLst/>
          </a:prstGeom>
          <a:noFill/>
        </p:spPr>
        <p:txBody>
          <a:bodyPr wrap="none" lIns="0" tIns="0" rIns="0" bIns="0" anchor="t">
            <a:spAutoFit/>
          </a:bodyPr>
          <a:lstStyle/>
          <a:p>
            <a:pPr algn="l"/>
            <a:r>
              <a:rPr sz="900" b="0" i="0" u="none">
                <a:solidFill>
                  <a:srgbClr val="991B1B"/>
                </a:solidFill>
                <a:latin typeface="Times New Roman" panose="02020603050405020304" pitchFamily="18" charset="0"/>
                <a:cs typeface="Times New Roman" panose="02020603050405020304" pitchFamily="18" charset="0"/>
              </a:rPr>
              <a:t>Có ngày ứng viên near-zero kéo dài. Ưu tiên kiểm tra thiết bị / inverter / kết nối.</a:t>
            </a:r>
            <a:endParaRPr sz="900" b="0" i="0" u="none">
              <a:solidFill>
                <a:srgbClr val="991B1B"/>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857250" y="3134617"/>
            <a:ext cx="6325009" cy="152400"/>
          </a:xfrm>
          <a:prstGeom prst="rect">
            <a:avLst/>
          </a:prstGeom>
          <a:noFill/>
        </p:spPr>
        <p:txBody>
          <a:bodyPr wrap="none" lIns="0" tIns="0" rIns="0" bIns="0" anchor="t">
            <a:spAutoFit/>
          </a:bodyPr>
          <a:lstStyle/>
          <a:p>
            <a:pPr algn="l"/>
            <a:r>
              <a:rPr sz="975" b="1" i="0" u="none">
                <a:solidFill>
                  <a:srgbClr val="78350F"/>
                </a:solidFill>
                <a:latin typeface="Times New Roman" panose="02020603050405020304" pitchFamily="18" charset="0"/>
                <a:cs typeface="Times New Roman" panose="02020603050405020304" pitchFamily="18" charset="0"/>
              </a:rPr>
              <a:t>Danh sách:</a:t>
            </a:r>
            <a:r>
              <a:rPr sz="975" b="0" i="0" u="none">
                <a:solidFill>
                  <a:srgbClr val="78350F"/>
                </a:solidFill>
                <a:latin typeface="Times New Roman" panose="02020603050405020304" pitchFamily="18" charset="0"/>
                <a:cs typeface="Times New Roman" panose="02020603050405020304" pitchFamily="18" charset="0"/>
              </a:rPr>
              <a:t> Site 27, 39, 14, 38, 16</a:t>
            </a:r>
            <a:endParaRPr sz="975" b="0" i="0" u="none">
              <a:solidFill>
                <a:srgbClr val="78350F"/>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857250" y="3325117"/>
            <a:ext cx="6325009" cy="142875"/>
          </a:xfrm>
          <a:prstGeom prst="rect">
            <a:avLst/>
          </a:prstGeom>
          <a:noFill/>
        </p:spPr>
        <p:txBody>
          <a:bodyPr wrap="none" lIns="0" tIns="0" rIns="0" bIns="0" anchor="t">
            <a:spAutoFit/>
          </a:bodyPr>
          <a:lstStyle/>
          <a:p>
            <a:pPr algn="l"/>
            <a:r>
              <a:rPr sz="900" b="0" i="0" u="none">
                <a:solidFill>
                  <a:srgbClr val="92400E"/>
                </a:solidFill>
                <a:latin typeface="Times New Roman" panose="02020603050405020304" pitchFamily="18" charset="0"/>
                <a:cs typeface="Times New Roman" panose="02020603050405020304" pitchFamily="18" charset="0"/>
              </a:rPr>
              <a:t>Cờ theo quy tắc Daily Low-Health kéo dài. Ưu tiên vệ sinh tấm pin / kiểm tra xuống cấp.</a:t>
            </a:r>
            <a:endParaRPr sz="900" b="0" i="0" u="none">
              <a:solidFill>
                <a:srgbClr val="92400E"/>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857250" y="4691955"/>
            <a:ext cx="6325009" cy="152400"/>
          </a:xfrm>
          <a:prstGeom prst="rect">
            <a:avLst/>
          </a:prstGeom>
          <a:noFill/>
        </p:spPr>
        <p:txBody>
          <a:bodyPr wrap="none" lIns="0" tIns="0" rIns="0" bIns="0" anchor="t">
            <a:spAutoFit/>
          </a:bodyPr>
          <a:lstStyle/>
          <a:p>
            <a:pPr algn="l"/>
            <a:r>
              <a:rPr sz="975" b="1" i="0" u="none">
                <a:solidFill>
                  <a:srgbClr val="047857"/>
                </a:solidFill>
                <a:latin typeface="Times New Roman" panose="02020603050405020304" pitchFamily="18" charset="0"/>
                <a:cs typeface="Times New Roman" panose="02020603050405020304" pitchFamily="18" charset="0"/>
              </a:rPr>
              <a:t>Danh sách:</a:t>
            </a:r>
            <a:r>
              <a:rPr sz="975" b="0" i="0" u="none">
                <a:solidFill>
                  <a:srgbClr val="047857"/>
                </a:solidFill>
                <a:latin typeface="Times New Roman" panose="02020603050405020304" pitchFamily="18" charset="0"/>
                <a:cs typeface="Times New Roman" panose="02020603050405020304" pitchFamily="18" charset="0"/>
              </a:rPr>
              <a:t> Site 36, 30, 17, 31, 20, 32, 21, 40, 19, 37, 26, 23, 22, 33</a:t>
            </a:r>
            <a:endParaRPr sz="975" b="0" i="0" u="none">
              <a:solidFill>
                <a:srgbClr val="047857"/>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857250" y="4882455"/>
            <a:ext cx="6325009" cy="142875"/>
          </a:xfrm>
          <a:prstGeom prst="rect">
            <a:avLst/>
          </a:prstGeom>
          <a:noFill/>
        </p:spPr>
        <p:txBody>
          <a:bodyPr wrap="none" lIns="0" tIns="0" rIns="0" bIns="0" anchor="t">
            <a:spAutoFit/>
          </a:bodyPr>
          <a:lstStyle/>
          <a:p>
            <a:pPr algn="l"/>
            <a:r>
              <a:rPr sz="900" b="0" i="0" u="none">
                <a:solidFill>
                  <a:srgbClr val="065F46"/>
                </a:solidFill>
                <a:latin typeface="Times New Roman" panose="02020603050405020304" pitchFamily="18" charset="0"/>
                <a:cs typeface="Times New Roman" panose="02020603050405020304" pitchFamily="18" charset="0"/>
              </a:rPr>
              <a:t>Có các khoảng sản lượng thấp hơn kỳ vọng nhưng chưa ở mức dừng phát điện hoàn toàn.</a:t>
            </a:r>
            <a:endParaRPr sz="900" b="0" i="0" u="none">
              <a:solidFill>
                <a:srgbClr val="065F46"/>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857250" y="1334392"/>
            <a:ext cx="2000250" cy="180975"/>
          </a:xfrm>
          <a:prstGeom prst="rect">
            <a:avLst/>
          </a:prstGeom>
          <a:noFill/>
        </p:spPr>
        <p:txBody>
          <a:bodyPr wrap="none" lIns="0" tIns="0" rIns="0" bIns="0" anchor="t">
            <a:spAutoFit/>
          </a:bodyPr>
          <a:lstStyle/>
          <a:p>
            <a:pPr algn="l"/>
            <a:r>
              <a:rPr sz="1125" b="1" i="0" u="none">
                <a:solidFill>
                  <a:srgbClr val="991B1B"/>
                </a:solidFill>
                <a:latin typeface="Times New Roman" panose="02020603050405020304" pitchFamily="18" charset="0"/>
                <a:cs typeface="Times New Roman" panose="02020603050405020304" pitchFamily="18" charset="0"/>
              </a:rPr>
              <a:t>1. CHECK_EQUIPMENT</a:t>
            </a:r>
            <a:endParaRPr sz="1125" b="1" i="0" u="none">
              <a:solidFill>
                <a:srgbClr val="991B1B"/>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5393382" y="1348680"/>
            <a:ext cx="523875" cy="152400"/>
          </a:xfrm>
          <a:prstGeom prst="rect">
            <a:avLst/>
          </a:prstGeom>
          <a:noFill/>
        </p:spPr>
        <p:txBody>
          <a:bodyPr wrap="square" lIns="0" tIns="0" rIns="0" bIns="0" anchor="t">
            <a:spAutoFit/>
          </a:bodyPr>
          <a:lstStyle/>
          <a:p>
            <a:pPr algn="l"/>
            <a:r>
              <a:rPr sz="975" b="1" i="0" u="none">
                <a:solidFill>
                  <a:srgbClr val="FFFFFF"/>
                </a:solidFill>
                <a:latin typeface="Times New Roman" panose="02020603050405020304" pitchFamily="18" charset="0"/>
                <a:cs typeface="Times New Roman" panose="02020603050405020304" pitchFamily="18" charset="0"/>
              </a:rPr>
              <a:t>6 SITES</a:t>
            </a:r>
            <a:endParaRPr sz="975" b="1" i="0" u="none">
              <a:solidFill>
                <a:srgbClr val="FFFFFF"/>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857250" y="2891730"/>
            <a:ext cx="3345656" cy="180975"/>
          </a:xfrm>
          <a:prstGeom prst="rect">
            <a:avLst/>
          </a:prstGeom>
          <a:noFill/>
        </p:spPr>
        <p:txBody>
          <a:bodyPr wrap="none" lIns="0" tIns="0" rIns="0" bIns="0" anchor="t">
            <a:spAutoFit/>
          </a:bodyPr>
          <a:lstStyle/>
          <a:p>
            <a:pPr algn="l"/>
            <a:r>
              <a:rPr sz="1125" b="1" i="0" u="none">
                <a:solidFill>
                  <a:srgbClr val="92400E"/>
                </a:solidFill>
                <a:latin typeface="Times New Roman" panose="02020603050405020304" pitchFamily="18" charset="0"/>
                <a:cs typeface="Times New Roman" panose="02020603050405020304" pitchFamily="18" charset="0"/>
              </a:rPr>
              <a:t>2. CHECK_MAINTENANCE_CLEANING</a:t>
            </a:r>
            <a:endParaRPr sz="1125" b="1" i="0" u="none">
              <a:solidFill>
                <a:srgbClr val="92400E"/>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5393382" y="2906017"/>
            <a:ext cx="523875" cy="152400"/>
          </a:xfrm>
          <a:prstGeom prst="rect">
            <a:avLst/>
          </a:prstGeom>
          <a:noFill/>
        </p:spPr>
        <p:txBody>
          <a:bodyPr wrap="square" lIns="0" tIns="0" rIns="0" bIns="0" anchor="t">
            <a:spAutoFit/>
          </a:bodyPr>
          <a:lstStyle/>
          <a:p>
            <a:pPr algn="l"/>
            <a:r>
              <a:rPr sz="975" b="1" i="0" u="none">
                <a:solidFill>
                  <a:srgbClr val="F8FAFC"/>
                </a:solidFill>
                <a:latin typeface="Times New Roman" panose="02020603050405020304" pitchFamily="18" charset="0"/>
                <a:cs typeface="Times New Roman" panose="02020603050405020304" pitchFamily="18" charset="0"/>
              </a:rPr>
              <a:t>5 SITES</a:t>
            </a:r>
            <a:endParaRPr sz="975" b="1" i="0" u="none">
              <a:solidFill>
                <a:srgbClr val="F8FAFC"/>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857250" y="4449067"/>
            <a:ext cx="3000375" cy="180975"/>
          </a:xfrm>
          <a:prstGeom prst="rect">
            <a:avLst/>
          </a:prstGeom>
          <a:noFill/>
        </p:spPr>
        <p:txBody>
          <a:bodyPr wrap="none" lIns="0" tIns="0" rIns="0" bIns="0" anchor="t">
            <a:spAutoFit/>
          </a:bodyPr>
          <a:lstStyle/>
          <a:p>
            <a:pPr algn="l"/>
            <a:r>
              <a:rPr sz="1125" b="1" i="0" u="none">
                <a:solidFill>
                  <a:srgbClr val="065F46"/>
                </a:solidFill>
                <a:latin typeface="Times New Roman" panose="02020603050405020304" pitchFamily="18" charset="0"/>
                <a:cs typeface="Times New Roman" panose="02020603050405020304" pitchFamily="18" charset="0"/>
              </a:rPr>
              <a:t>3. CHECK_UNDERPERFORMANCE</a:t>
            </a:r>
            <a:endParaRPr sz="1125" b="1" i="0" u="none">
              <a:solidFill>
                <a:srgbClr val="065F46"/>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5336232" y="4463355"/>
            <a:ext cx="581025" cy="152400"/>
          </a:xfrm>
          <a:prstGeom prst="rect">
            <a:avLst/>
          </a:prstGeom>
          <a:noFill/>
        </p:spPr>
        <p:txBody>
          <a:bodyPr wrap="square" lIns="0" tIns="0" rIns="0" bIns="0" anchor="t">
            <a:spAutoFit/>
          </a:bodyPr>
          <a:lstStyle/>
          <a:p>
            <a:pPr algn="l"/>
            <a:r>
              <a:rPr sz="975" b="1" i="0" u="none">
                <a:solidFill>
                  <a:srgbClr val="F8FAFC"/>
                </a:solidFill>
                <a:latin typeface="Times New Roman" panose="02020603050405020304" pitchFamily="18" charset="0"/>
                <a:cs typeface="Times New Roman" panose="02020603050405020304" pitchFamily="18" charset="0"/>
              </a:rPr>
              <a:t>14 SITES</a:t>
            </a:r>
            <a:endParaRPr sz="975" b="1" i="0" u="none">
              <a:solidFill>
                <a:srgbClr val="F8FAFC"/>
              </a:solidFill>
              <a:latin typeface="Times New Roman" panose="02020603050405020304" pitchFamily="18" charset="0"/>
              <a:cs typeface="Times New Roman" panose="02020603050405020304" pitchFamily="18" charset="0"/>
            </a:endParaRPr>
          </a:p>
        </p:txBody>
      </p:sp>
      <p:pic>
        <p:nvPicPr>
          <p:cNvPr id="29" name="Picture 28"/>
          <p:cNvPicPr>
            <a:picLocks noChangeAspect="1"/>
          </p:cNvPicPr>
          <p:nvPr/>
        </p:nvPicPr>
        <p:blipFill>
          <a:blip r:embed="rId2"/>
          <a:stretch>
            <a:fillRect/>
          </a:stretch>
        </p:blipFill>
        <p:spPr>
          <a:xfrm>
            <a:off x="6460182" y="1634430"/>
            <a:ext cx="4998392" cy="33718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5829300"/>
            <a:ext cx="5391150" cy="571500"/>
          </a:xfrm>
          <a:prstGeom prst="roundRect">
            <a:avLst>
              <a:gd name="adj" fmla="val 1333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ounded Rectangle 2"/>
          <p:cNvSpPr/>
          <p:nvPr/>
        </p:nvSpPr>
        <p:spPr>
          <a:xfrm>
            <a:off x="6191250" y="5829300"/>
            <a:ext cx="5391150" cy="571500"/>
          </a:xfrm>
          <a:prstGeom prst="roundRect">
            <a:avLst>
              <a:gd name="adj" fmla="val 1333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09600" y="2503140"/>
          <a:ext cx="10972799" cy="1809750"/>
        </p:xfrm>
        <a:graphic>
          <a:graphicData uri="http://schemas.openxmlformats.org/drawingml/2006/table">
            <a:tbl>
              <a:tblPr/>
              <a:tblGrid>
                <a:gridCol w="3194298"/>
                <a:gridCol w="1828800"/>
                <a:gridCol w="5949701"/>
              </a:tblGrid>
              <a:tr h="361950">
                <a:tc>
                  <a:txBody>
                    <a:bodyPr/>
                    <a:lstStyle/>
                    <a:p>
                      <a:pPr algn="l"/>
                      <a:r>
                        <a:rPr sz="1010" b="1" i="0" u="none">
                          <a:solidFill>
                            <a:srgbClr val="FFFFFF"/>
                          </a:solidFill>
                          <a:latin typeface="Times New Roman" panose="02020603050405020304" pitchFamily="18" charset="0"/>
                          <a:cs typeface="Times New Roman" panose="02020603050405020304" pitchFamily="18" charset="0"/>
                        </a:rPr>
                        <a:t>Kết Luận Chính</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10" b="1" i="0" u="none">
                          <a:solidFill>
                            <a:srgbClr val="FFFFFF"/>
                          </a:solidFill>
                          <a:latin typeface="Times New Roman" panose="02020603050405020304" pitchFamily="18" charset="0"/>
                          <a:cs typeface="Times New Roman" panose="02020603050405020304" pitchFamily="18" charset="0"/>
                        </a:rPr>
                        <a:t>Mức Độ Hỗ Trợ</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c>
                  <a:txBody>
                    <a:bodyPr/>
                    <a:lstStyle/>
                    <a:p>
                      <a:pPr algn="l"/>
                      <a:r>
                        <a:rPr sz="1010" b="1" i="0" u="none">
                          <a:solidFill>
                            <a:srgbClr val="FFFFFF"/>
                          </a:solidFill>
                          <a:latin typeface="Times New Roman" panose="02020603050405020304" pitchFamily="18" charset="0"/>
                          <a:cs typeface="Times New Roman" panose="02020603050405020304" pitchFamily="18" charset="0"/>
                        </a:rPr>
                        <a:t>Lý Do &amp; Bằng Chứng</a:t>
                      </a:r>
                      <a:endParaRPr sz="1010" b="1" i="0" u="none">
                        <a:solidFill>
                          <a:srgbClr val="FFFFFF"/>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0F172A"/>
                    </a:solidFill>
                  </a:tcPr>
                </a:tc>
              </a:tr>
              <a:tr h="361950">
                <a:tc>
                  <a:txBody>
                    <a:bodyPr/>
                    <a:lstStyle/>
                    <a:p>
                      <a:pPr algn="l"/>
                      <a:r>
                        <a:rPr sz="1010" b="1" i="0" u="none">
                          <a:solidFill>
                            <a:srgbClr val="334155"/>
                          </a:solidFill>
                          <a:latin typeface="Times New Roman" panose="02020603050405020304" pitchFamily="18" charset="0"/>
                          <a:cs typeface="Times New Roman" panose="02020603050405020304" pitchFamily="18" charset="0"/>
                        </a:rPr>
                        <a:t>Lag ngắn hạn cực kỳ quan trọng</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1" i="0" u="none">
                          <a:solidFill>
                            <a:srgbClr val="16A34A"/>
                          </a:solidFill>
                          <a:latin typeface="Times New Roman" panose="02020603050405020304" pitchFamily="18" charset="0"/>
                          <a:cs typeface="Times New Roman" panose="02020603050405020304" pitchFamily="18" charset="0"/>
                        </a:rPr>
                        <a:t>Mạnh mẽ (Rất Cao)</a:t>
                      </a:r>
                      <a:endParaRPr sz="1010" b="1" i="0" u="none">
                        <a:solidFill>
                          <a:srgbClr val="16A34A"/>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Ablation RF_no_lag làm MAE tăng vọt từ 1.35 lên 2.84 kWh</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361950">
                <a:tc>
                  <a:txBody>
                    <a:bodyPr/>
                    <a:lstStyle/>
                    <a:p>
                      <a:pPr algn="l"/>
                      <a:r>
                        <a:rPr sz="1010" b="1" i="0" u="none">
                          <a:solidFill>
                            <a:srgbClr val="334155"/>
                          </a:solidFill>
                          <a:latin typeface="Times New Roman" panose="02020603050405020304" pitchFamily="18" charset="0"/>
                          <a:cs typeface="Times New Roman" panose="02020603050405020304" pitchFamily="18" charset="0"/>
                        </a:rPr>
                        <a:t>Winner RF tốt hơn Persistence</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10" b="1" i="0" u="none">
                          <a:solidFill>
                            <a:srgbClr val="16A34A"/>
                          </a:solidFill>
                          <a:latin typeface="Times New Roman" panose="02020603050405020304" pitchFamily="18" charset="0"/>
                          <a:cs typeface="Times New Roman" panose="02020603050405020304" pitchFamily="18" charset="0"/>
                        </a:rPr>
                        <a:t>Có Hỗ Trợ (Cao)</a:t>
                      </a:r>
                      <a:endParaRPr sz="1010" b="1" i="0" u="none">
                        <a:solidFill>
                          <a:srgbClr val="16A34A"/>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MAE giảm 21.2%, R² tăng từ 0.9273 lên 0.9475 trên 150.164 nhãn test</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r>
              <a:tr h="361950">
                <a:tc>
                  <a:txBody>
                    <a:bodyPr/>
                    <a:lstStyle/>
                    <a:p>
                      <a:pPr algn="l"/>
                      <a:r>
                        <a:rPr sz="1010" b="1" i="0" u="none">
                          <a:solidFill>
                            <a:srgbClr val="334155"/>
                          </a:solidFill>
                          <a:latin typeface="Times New Roman" panose="02020603050405020304" pitchFamily="18" charset="0"/>
                          <a:cs typeface="Times New Roman" panose="02020603050405020304" pitchFamily="18" charset="0"/>
                        </a:rPr>
                        <a:t>Khả năng tổng quát hóa 17 site bị loại</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1" i="0" u="none">
                          <a:solidFill>
                            <a:srgbClr val="DC2626"/>
                          </a:solidFill>
                          <a:latin typeface="Times New Roman" panose="02020603050405020304" pitchFamily="18" charset="0"/>
                          <a:cs typeface="Times New Roman" panose="02020603050405020304" pitchFamily="18" charset="0"/>
                        </a:rPr>
                        <a:t>Chưa Hỗ Trợ</a:t>
                      </a:r>
                      <a:endParaRPr sz="1010" b="1" i="0" u="none">
                        <a:solidFill>
                          <a:srgbClr val="DC2626"/>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17 site thiếu khẳng định Metric trong metadata, không đưa vào model</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FFFFF"/>
                    </a:solidFill>
                  </a:tcPr>
                </a:tc>
              </a:tr>
              <a:tr h="361950">
                <a:tc>
                  <a:txBody>
                    <a:bodyPr/>
                    <a:lstStyle/>
                    <a:p>
                      <a:pPr algn="l"/>
                      <a:r>
                        <a:rPr sz="1010" b="1" i="0" u="none">
                          <a:solidFill>
                            <a:srgbClr val="334155"/>
                          </a:solidFill>
                          <a:latin typeface="Times New Roman" panose="02020603050405020304" pitchFamily="18" charset="0"/>
                          <a:cs typeface="Times New Roman" panose="02020603050405020304" pitchFamily="18" charset="0"/>
                        </a:rPr>
                        <a:t>Khẳng định cờ Anomaly là lỗi vật lý</a:t>
                      </a:r>
                      <a:endParaRPr sz="1010" b="1"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10" b="1" i="0" u="none">
                          <a:solidFill>
                            <a:srgbClr val="DC2626"/>
                          </a:solidFill>
                          <a:latin typeface="Times New Roman" panose="02020603050405020304" pitchFamily="18" charset="0"/>
                          <a:cs typeface="Times New Roman" panose="02020603050405020304" pitchFamily="18" charset="0"/>
                        </a:rPr>
                        <a:t>Chưa Khẳng Định</a:t>
                      </a:r>
                      <a:endParaRPr sz="1010" b="1" i="0" u="none">
                        <a:solidFill>
                          <a:srgbClr val="DC2626"/>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c>
                  <a:txBody>
                    <a:bodyPr/>
                    <a:lstStyle/>
                    <a:p>
                      <a:pPr algn="l"/>
                      <a:r>
                        <a:rPr sz="1010" b="0" i="0" u="none">
                          <a:solidFill>
                            <a:srgbClr val="334155"/>
                          </a:solidFill>
                          <a:latin typeface="Times New Roman" panose="02020603050405020304" pitchFamily="18" charset="0"/>
                          <a:cs typeface="Times New Roman" panose="02020603050405020304" pitchFamily="18" charset="0"/>
                        </a:rPr>
                        <a:t>Thiếu Ground Truth (nhãn lỗi/log bảo trì). Cờ chỉ mang tính chất Screening</a:t>
                      </a:r>
                      <a:endParaRPr sz="1010" b="0" i="0" u="none">
                        <a:solidFill>
                          <a:srgbClr val="334155"/>
                        </a:solidFill>
                        <a:latin typeface="Times New Roman" panose="02020603050405020304" pitchFamily="18" charset="0"/>
                        <a:cs typeface="Times New Roman" panose="02020603050405020304" pitchFamily="18" charset="0"/>
                      </a:endParaRPr>
                    </a:p>
                  </a:txBody>
                  <a:tcPr marL="63500" marR="63500" marT="25400" marB="25400" anchor="ctr">
                    <a:lnL>
                      <a:noFill/>
                    </a:lnL>
                    <a:lnR>
                      <a:noFill/>
                    </a:lnR>
                    <a:lnT>
                      <a:noFill/>
                    </a:lnT>
                    <a:lnB>
                      <a:noFill/>
                    </a:lnB>
                    <a:solidFill>
                      <a:srgbClr val="F8FAFC"/>
                    </a:solidFill>
                  </a:tcPr>
                </a:tc>
              </a:tr>
            </a:tbl>
          </a:graphicData>
        </a:graphic>
      </p:graphicFrame>
      <p:sp>
        <p:nvSpPr>
          <p:cNvPr id="5" name="TextBox 4"/>
          <p:cNvSpPr txBox="1"/>
          <p:nvPr/>
        </p:nvSpPr>
        <p:spPr>
          <a:xfrm>
            <a:off x="609600" y="457200"/>
            <a:ext cx="11582400" cy="152400"/>
          </a:xfrm>
          <a:prstGeom prst="rect">
            <a:avLst/>
          </a:prstGeom>
          <a:noFill/>
        </p:spPr>
        <p:txBody>
          <a:bodyPr wrap="none" lIns="0" tIns="0" rIns="0" bIns="0" anchor="t">
            <a:spAutoFit/>
          </a:bodyPr>
          <a:lstStyle/>
          <a:p>
            <a:pPr algn="l"/>
            <a:r>
              <a:rPr sz="975" b="1" i="0" u="none">
                <a:solidFill>
                  <a:srgbClr val="0284C7"/>
                </a:solidFill>
                <a:latin typeface="Times New Roman" panose="02020603050405020304" pitchFamily="18" charset="0"/>
                <a:cs typeface="Times New Roman" panose="02020603050405020304" pitchFamily="18" charset="0"/>
              </a:rPr>
              <a:t>CHƯƠNG 7: THẢO LUẬN &amp; GIỚI HẠN</a:t>
            </a:r>
            <a:endParaRPr sz="975" b="1" i="0" u="none">
              <a:solidFill>
                <a:srgbClr val="0284C7"/>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609600" y="666750"/>
            <a:ext cx="11582400" cy="319980"/>
          </a:xfrm>
          <a:prstGeom prst="rect">
            <a:avLst/>
          </a:prstGeom>
          <a:noFill/>
        </p:spPr>
        <p:txBody>
          <a:bodyPr wrap="none" lIns="0" tIns="0" rIns="0" bIns="0" anchor="t">
            <a:spAutoFit/>
          </a:bodyPr>
          <a:lstStyle/>
          <a:p>
            <a:pPr algn="l">
              <a:lnSpc>
                <a:spcPts val="2520"/>
              </a:lnSpc>
            </a:pPr>
            <a:r>
              <a:rPr sz="2100" b="1" i="0" u="none">
                <a:solidFill>
                  <a:srgbClr val="0F172A"/>
                </a:solidFill>
                <a:latin typeface="Times New Roman" panose="02020603050405020304" pitchFamily="18" charset="0"/>
                <a:cs typeface="Times New Roman" panose="02020603050405020304" pitchFamily="18" charset="0"/>
              </a:rPr>
              <a:t>Mức Độ Tin Cậy Của Kết Luận &amp; Hạn Chế Dữ Liệu</a:t>
            </a:r>
            <a:endParaRPr sz="2100" b="1" i="0" u="none">
              <a:solidFill>
                <a:srgbClr val="0F172A"/>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742950" y="5962650"/>
            <a:ext cx="5219700" cy="304800"/>
          </a:xfrm>
          <a:prstGeom prst="rect">
            <a:avLst/>
          </a:prstGeom>
          <a:noFill/>
        </p:spPr>
        <p:txBody>
          <a:bodyPr wrap="square" lIns="0"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Độ phủ Target (Coverage):</a:t>
            </a:r>
            <a:r>
              <a:rPr sz="975" b="0" i="0" u="none">
                <a:solidFill>
                  <a:srgbClr val="334155"/>
                </a:solidFill>
                <a:latin typeface="Times New Roman" panose="02020603050405020304" pitchFamily="18" charset="0"/>
                <a:cs typeface="Times New Roman" panose="02020603050405020304" pitchFamily="18" charset="0"/>
              </a:rPr>
              <a:t> Đạt ~40.6% Train và 49.4% Test. Số lượng khoảng thiếu lớn yêu cầu cần tiếp tục thu thập dữ liệu liên tục để tránh hiện tượng lệch mẫu (Sample Bias).</a:t>
            </a:r>
            <a:endParaRPr sz="975" b="0" i="0" u="none">
              <a:solidFill>
                <a:srgbClr val="334155"/>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6324600" y="5962650"/>
            <a:ext cx="5219700" cy="304800"/>
          </a:xfrm>
          <a:prstGeom prst="rect">
            <a:avLst/>
          </a:prstGeom>
          <a:noFill/>
        </p:spPr>
        <p:txBody>
          <a:bodyPr wrap="square" lIns="0" tIns="0" rIns="0" bIns="0" anchor="t">
            <a:spAutoFit/>
          </a:bodyPr>
          <a:lstStyle/>
          <a:p>
            <a:pPr algn="l"/>
            <a:r>
              <a:rPr sz="975" b="1" i="0" u="none">
                <a:solidFill>
                  <a:srgbClr val="334155"/>
                </a:solidFill>
                <a:latin typeface="Times New Roman" panose="02020603050405020304" pitchFamily="18" charset="0"/>
                <a:cs typeface="Times New Roman" panose="02020603050405020304" pitchFamily="18" charset="0"/>
              </a:rPr>
              <a:t>Cấp độ quan sát:</a:t>
            </a:r>
            <a:r>
              <a:rPr sz="975" b="0" i="0" u="none">
                <a:solidFill>
                  <a:srgbClr val="334155"/>
                </a:solidFill>
                <a:latin typeface="Times New Roman" panose="02020603050405020304" pitchFamily="18" charset="0"/>
                <a:cs typeface="Times New Roman" panose="02020603050405020304" pitchFamily="18" charset="0"/>
              </a:rPr>
              <a:t> Dữ liệu tổng hợp ở cấp độ Site/Hệ thống. Để chẩn đoán chính xác nguyên nhân lỗi (panel/inverter), cần thêm thông tin Telemetry chi tiết theo String.</a:t>
            </a:r>
            <a:endParaRPr sz="975" b="0" i="0" u="none">
              <a:solidFill>
                <a:srgbClr val="33415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3" name="Rectangle 2"/>
          <p:cNvSpPr/>
          <p:nvPr/>
        </p:nvSpPr>
        <p:spPr>
          <a:xfrm>
            <a:off x="762000" y="5514975"/>
            <a:ext cx="10668000" cy="7334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762000" y="2228254"/>
            <a:ext cx="5181600" cy="2534840"/>
          </a:xfrm>
          <a:prstGeom prst="roundRect">
            <a:avLst>
              <a:gd name="adj" fmla="val 4509"/>
            </a:avLst>
          </a:prstGeom>
          <a:solidFill>
            <a:srgbClr val="232B3D"/>
          </a:solidFill>
          <a:ln w="9525">
            <a:solidFill>
              <a:srgbClr val="2E36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4"/>
          <p:cNvSpPr/>
          <p:nvPr/>
        </p:nvSpPr>
        <p:spPr>
          <a:xfrm>
            <a:off x="6248400" y="2228254"/>
            <a:ext cx="5181600" cy="2534840"/>
          </a:xfrm>
          <a:prstGeom prst="roundRect">
            <a:avLst>
              <a:gd name="adj" fmla="val 4509"/>
            </a:avLst>
          </a:prstGeom>
          <a:solidFill>
            <a:srgbClr val="232B3D"/>
          </a:solidFill>
          <a:ln w="9525">
            <a:solidFill>
              <a:srgbClr val="2E36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ectangle 5"/>
          <p:cNvSpPr/>
          <p:nvPr/>
        </p:nvSpPr>
        <p:spPr>
          <a:xfrm>
            <a:off x="762000" y="5514975"/>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7" name="Picture 6" descr="image.png"/>
          <p:cNvPicPr>
            <a:picLocks noChangeAspect="1"/>
          </p:cNvPicPr>
          <p:nvPr/>
        </p:nvPicPr>
        <p:blipFill>
          <a:blip r:embed="rId2"/>
          <a:stretch>
            <a:fillRect/>
          </a:stretch>
        </p:blipFill>
        <p:spPr>
          <a:xfrm>
            <a:off x="1038225" y="2528292"/>
            <a:ext cx="190500" cy="190500"/>
          </a:xfrm>
          <a:prstGeom prst="rect">
            <a:avLst/>
          </a:prstGeom>
        </p:spPr>
      </p:pic>
      <p:pic>
        <p:nvPicPr>
          <p:cNvPr id="8" name="Picture 7" descr="image.png"/>
          <p:cNvPicPr>
            <a:picLocks noChangeAspect="1"/>
          </p:cNvPicPr>
          <p:nvPr/>
        </p:nvPicPr>
        <p:blipFill>
          <a:blip r:embed="rId3"/>
          <a:stretch>
            <a:fillRect/>
          </a:stretch>
        </p:blipFill>
        <p:spPr>
          <a:xfrm>
            <a:off x="6524625" y="2528292"/>
            <a:ext cx="190500" cy="190500"/>
          </a:xfrm>
          <a:prstGeom prst="rect">
            <a:avLst/>
          </a:prstGeom>
        </p:spPr>
      </p:pic>
      <p:sp>
        <p:nvSpPr>
          <p:cNvPr id="9" name="TextBox 8"/>
          <p:cNvSpPr txBox="1"/>
          <p:nvPr/>
        </p:nvSpPr>
        <p:spPr>
          <a:xfrm>
            <a:off x="762000" y="609600"/>
            <a:ext cx="11430000" cy="152400"/>
          </a:xfrm>
          <a:prstGeom prst="rect">
            <a:avLst/>
          </a:prstGeom>
          <a:noFill/>
        </p:spPr>
        <p:txBody>
          <a:bodyPr wrap="none" lIns="0" tIns="0" rIns="0" bIns="0" anchor="t">
            <a:spAutoFit/>
          </a:bodyPr>
          <a:lstStyle/>
          <a:p>
            <a:pPr algn="l"/>
            <a:r>
              <a:rPr sz="975" b="1" i="0" u="none">
                <a:solidFill>
                  <a:srgbClr val="38BDF8"/>
                </a:solidFill>
                <a:latin typeface="Times New Roman" panose="02020603050405020304" pitchFamily="18" charset="0"/>
                <a:cs typeface="Times New Roman" panose="02020603050405020304" pitchFamily="18" charset="0"/>
              </a:rPr>
              <a:t>CHƯƠNG 8: KẾT LUẬN &amp; HƯỚNG PHÁT TRIỂN</a:t>
            </a:r>
            <a:endParaRPr sz="975" b="1" i="0" u="none">
              <a:solidFill>
                <a:srgbClr val="38BDF8"/>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62000" y="819150"/>
            <a:ext cx="11430000" cy="428625"/>
          </a:xfrm>
          <a:prstGeom prst="rect">
            <a:avLst/>
          </a:prstGeom>
          <a:noFill/>
        </p:spPr>
        <p:txBody>
          <a:bodyPr wrap="none" lIns="0" tIns="0" rIns="0" bIns="0" anchor="t">
            <a:spAutoFit/>
          </a:bodyPr>
          <a:lstStyle/>
          <a:p>
            <a:pPr algn="l"/>
            <a:r>
              <a:rPr sz="2700" b="1" i="0" u="none">
                <a:solidFill>
                  <a:srgbClr val="FFFFFF"/>
                </a:solidFill>
                <a:latin typeface="Times New Roman" panose="02020603050405020304" pitchFamily="18" charset="0"/>
                <a:cs typeface="Times New Roman" panose="02020603050405020304" pitchFamily="18" charset="0"/>
              </a:rPr>
              <a:t>Tổng Kết Đề Tài &amp; Định Hướng Nghiên Cứu Tiếp Theo</a:t>
            </a:r>
            <a:endParaRPr sz="2700" b="1" i="0" u="none">
              <a:solidFill>
                <a:srgbClr val="FFFFFF"/>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85750" y="5753100"/>
            <a:ext cx="12763500" cy="266700"/>
          </a:xfrm>
          <a:prstGeom prst="rect">
            <a:avLst/>
          </a:prstGeom>
          <a:noFill/>
        </p:spPr>
        <p:txBody>
          <a:bodyPr wrap="none" lIns="0" tIns="0" rIns="0" bIns="0" anchor="t">
            <a:spAutoFit/>
          </a:bodyPr>
          <a:lstStyle/>
          <a:p>
            <a:pPr algn="ctr"/>
            <a:r>
              <a:rPr sz="1650" b="1" i="0" u="none">
                <a:solidFill>
                  <a:srgbClr val="F8FAFC"/>
                </a:solidFill>
                <a:latin typeface="Times New Roman" panose="02020603050405020304" pitchFamily="18" charset="0"/>
                <a:cs typeface="Times New Roman" panose="02020603050405020304" pitchFamily="18" charset="0"/>
              </a:rPr>
              <a:t>CẢM ƠN CÔ VÀ CÁC BẠN ĐÃ LẮNG NGHE!</a:t>
            </a:r>
            <a:endParaRPr sz="1650" b="1" i="0" u="none">
              <a:solidFill>
                <a:srgbClr val="F8FAFC"/>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285750" y="6076950"/>
            <a:ext cx="12763500" cy="171450"/>
          </a:xfrm>
          <a:prstGeom prst="rect">
            <a:avLst/>
          </a:prstGeom>
          <a:noFill/>
        </p:spPr>
        <p:txBody>
          <a:bodyPr wrap="none" lIns="0" tIns="0" rIns="0" bIns="0" anchor="t">
            <a:spAutoFit/>
          </a:bodyPr>
          <a:lstStyle/>
          <a:p>
            <a:pPr algn="ctr"/>
            <a:r>
              <a:rPr sz="1050" b="0" i="0" u="none">
                <a:solidFill>
                  <a:srgbClr val="64748B"/>
                </a:solidFill>
                <a:latin typeface="Times New Roman" panose="02020603050405020304" pitchFamily="18" charset="0"/>
                <a:cs typeface="Times New Roman" panose="02020603050405020304" pitchFamily="18" charset="0"/>
              </a:rPr>
              <a:t>Nhóm 10 — Học phần Khai phá dữ liệu • TP.HCM 2026</a:t>
            </a:r>
            <a:endParaRPr sz="1050" b="0" i="0" u="none">
              <a:solidFill>
                <a:srgbClr val="64748B"/>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323975" y="2504479"/>
            <a:ext cx="5775721" cy="238125"/>
          </a:xfrm>
          <a:prstGeom prst="rect">
            <a:avLst/>
          </a:prstGeom>
          <a:noFill/>
        </p:spPr>
        <p:txBody>
          <a:bodyPr wrap="none" lIns="0" tIns="0" rIns="0" bIns="0" anchor="ctr">
            <a:spAutoFit/>
          </a:bodyPr>
          <a:lstStyle/>
          <a:p>
            <a:pPr algn="l"/>
            <a:r>
              <a:rPr sz="1500" b="1" i="0" u="none">
                <a:solidFill>
                  <a:srgbClr val="38BDF8"/>
                </a:solidFill>
                <a:latin typeface="Times New Roman" panose="02020603050405020304" pitchFamily="18" charset="0"/>
                <a:cs typeface="Times New Roman" panose="02020603050405020304" pitchFamily="18" charset="0"/>
              </a:rPr>
              <a:t>Kết Luận Chính</a:t>
            </a:r>
            <a:endParaRPr sz="1500" b="1" i="0" u="none">
              <a:solidFill>
                <a:srgbClr val="38BDF8"/>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6810375" y="2504479"/>
            <a:ext cx="5381625" cy="238125"/>
          </a:xfrm>
          <a:prstGeom prst="rect">
            <a:avLst/>
          </a:prstGeom>
          <a:noFill/>
        </p:spPr>
        <p:txBody>
          <a:bodyPr wrap="none" lIns="0" tIns="0" rIns="0" bIns="0" anchor="ctr">
            <a:spAutoFit/>
          </a:bodyPr>
          <a:lstStyle/>
          <a:p>
            <a:pPr algn="l"/>
            <a:r>
              <a:rPr sz="1500" b="1" i="0" u="none">
                <a:solidFill>
                  <a:srgbClr val="34D399"/>
                </a:solidFill>
                <a:latin typeface="Times New Roman" panose="02020603050405020304" pitchFamily="18" charset="0"/>
                <a:cs typeface="Times New Roman" panose="02020603050405020304" pitchFamily="18" charset="0"/>
              </a:rPr>
              <a:t>Hướng Phát Triển</a:t>
            </a:r>
            <a:endParaRPr sz="1500" b="1" i="0" u="none">
              <a:solidFill>
                <a:srgbClr val="34D399"/>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1038225" y="2875954"/>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Đã xây dựng hoàn chỉnh Pipeline Khai phá dữ liệu chuỗi thời gian chống Leakage chặt chẽ.</a:t>
            </a:r>
            <a:endParaRPr sz="1085" b="0" i="0" u="none">
              <a:solidFill>
                <a:srgbClr val="CBD5E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038225" y="3412926"/>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Mô hình được chọn đạt </a:t>
            </a:r>
            <a:r>
              <a:rPr sz="1085" b="1" i="0" u="none">
                <a:solidFill>
                  <a:srgbClr val="CBD5E1"/>
                </a:solidFill>
                <a:latin typeface="Times New Roman" panose="02020603050405020304" pitchFamily="18" charset="0"/>
                <a:cs typeface="Times New Roman" panose="02020603050405020304" pitchFamily="18" charset="0"/>
              </a:rPr>
              <a:t>MAE 1.093 kWh/15m</a:t>
            </a:r>
            <a:r>
              <a:rPr sz="1085" b="0" i="0" u="none">
                <a:solidFill>
                  <a:srgbClr val="CBD5E1"/>
                </a:solidFill>
                <a:latin typeface="Times New Roman" panose="02020603050405020304" pitchFamily="18" charset="0"/>
                <a:cs typeface="Times New Roman" panose="02020603050405020304" pitchFamily="18" charset="0"/>
              </a:rPr>
              <a:t>, </a:t>
            </a:r>
            <a:r>
              <a:rPr sz="1085" b="1" i="0" u="none">
                <a:solidFill>
                  <a:srgbClr val="CBD5E1"/>
                </a:solidFill>
                <a:latin typeface="Times New Roman" panose="02020603050405020304" pitchFamily="18" charset="0"/>
                <a:cs typeface="Times New Roman" panose="02020603050405020304" pitchFamily="18" charset="0"/>
              </a:rPr>
              <a:t>R² 0.9475</a:t>
            </a:r>
            <a:r>
              <a:rPr sz="1085" b="0" i="0" u="none">
                <a:solidFill>
                  <a:srgbClr val="CBD5E1"/>
                </a:solidFill>
                <a:latin typeface="Times New Roman" panose="02020603050405020304" pitchFamily="18" charset="0"/>
                <a:cs typeface="Times New Roman" panose="02020603050405020304" pitchFamily="18" charset="0"/>
              </a:rPr>
              <a:t>, vượt trội hơn rõ rệt so với Persistence Baseline.</a:t>
            </a:r>
            <a:endParaRPr sz="1085" b="0" i="0" u="none">
              <a:solidFill>
                <a:srgbClr val="CBD5E1"/>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038225" y="3949898"/>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Module Anomaly cung cấp danh sách ưu tiên rà soát bảo trì có giá trị thực tiễn cao cho đơn vị vận hành.</a:t>
            </a:r>
            <a:endParaRPr sz="1085" b="0" i="0" u="none">
              <a:solidFill>
                <a:srgbClr val="CBD5E1"/>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6524625" y="2875954"/>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Thu thập bổ sung chỉ số bức xạ mặt trời đo thực tế (Measured Irradiance) &amp; độ phủ mây.</a:t>
            </a:r>
            <a:endParaRPr sz="1085" b="0" i="0" u="none">
              <a:solidFill>
                <a:srgbClr val="CBD5E1"/>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6524625" y="3412926"/>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Kết nối Log sự cố &amp; Lịch sử bảo trì thực tế để đánh giá Precision/Recall cho mô hình Anomaly.</a:t>
            </a:r>
            <a:endParaRPr sz="1085" b="0" i="0" u="none">
              <a:solidFill>
                <a:srgbClr val="CBD5E1"/>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6524625" y="3949898"/>
            <a:ext cx="4724400" cy="441721"/>
          </a:xfrm>
          <a:prstGeom prst="rect">
            <a:avLst/>
          </a:prstGeom>
          <a:noFill/>
        </p:spPr>
        <p:txBody>
          <a:bodyPr wrap="square" lIns="0" tIns="0" rIns="0" bIns="0" anchor="t">
            <a:spAutoFit/>
          </a:bodyPr>
          <a:lstStyle/>
          <a:p>
            <a:pPr algn="l">
              <a:lnSpc>
                <a:spcPts val="1740"/>
              </a:lnSpc>
            </a:pPr>
            <a:r>
              <a:rPr sz="1085" b="0" i="0" u="none">
                <a:solidFill>
                  <a:srgbClr val="CBD5E1"/>
                </a:solidFill>
                <a:latin typeface="Times New Roman" panose="02020603050405020304" pitchFamily="18" charset="0"/>
                <a:cs typeface="Times New Roman" panose="02020603050405020304" pitchFamily="18" charset="0"/>
              </a:rPr>
              <a:t>➔ Mở rộng dự báo Multi-step Horizon (dự báo trước nhiều giờ/ngày) phục vụ điều độ lưới điện.</a:t>
            </a:r>
            <a:endParaRPr sz="1085" b="0" i="0" u="none">
              <a:solidFill>
                <a:srgbClr val="CBD5E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9189</Words>
  <Application>WPS Presentation</Application>
  <PresentationFormat>Widescreen</PresentationFormat>
  <Paragraphs>464</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Arial</vt:lpstr>
      <vt:lpstr>Times New Roman</vt:lpstr>
      <vt:lpstr>Plus Jakarta Sans</vt:lpstr>
      <vt:lpstr>Segoe Print</vt:lpstr>
      <vt:lpstr>JetBrains Mono</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Minh Pham</cp:lastModifiedBy>
  <cp:revision>5</cp:revision>
  <dcterms:created xsi:type="dcterms:W3CDTF">2013-01-27T09:14:00Z</dcterms:created>
  <dcterms:modified xsi:type="dcterms:W3CDTF">2026-10-28T14:11:09Z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903008AE4AD54932B9F7F6EDE326282B_13</vt:lpwstr>
  </property>
</Properties>
</file>